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2d79b71baf48bd" /><Relationship Type="http://schemas.openxmlformats.org/officeDocument/2006/relationships/extended-properties" Target="/docProps/app.xml" Id="R9881a7e61f70454b" /><Relationship Type="http://schemas.openxmlformats.org/officeDocument/2006/relationships/officeDocument" Target="/ppt/presentation.xml" Id="R9d90d7f420614699" /></Relationships>
</file>

<file path=ppt/presentation.xml><?xml version="1.0" encoding="utf-8"?>
<p:presentation xmlns:p="http://schemas.openxmlformats.org/presentationml/2006/main">
  <p:sldMasterIdLst>
    <p:sldMasterId xmlns:r="http://schemas.openxmlformats.org/officeDocument/2006/relationships" id="2147483648" r:id="R40a4251683094720"/>
  </p:sldMasterIdLst>
  <p:notesMasterIdLst>
    <p:notesMasterId xmlns:r="http://schemas.openxmlformats.org/officeDocument/2006/relationships" r:id="R84ecd7d6747b4bb3"/>
  </p:notesMasterIdLst>
  <p:sldIdLst>
    <p:sldId xmlns:r="http://schemas.openxmlformats.org/officeDocument/2006/relationships" id="256" r:id="R9996cf46006645b6"/>
    <p:sldId xmlns:r="http://schemas.openxmlformats.org/officeDocument/2006/relationships" id="257" r:id="R85b875508f5a4e45"/>
    <p:sldId xmlns:r="http://schemas.openxmlformats.org/officeDocument/2006/relationships" id="258" r:id="Rf0ca2077035446f8"/>
    <p:sldId xmlns:r="http://schemas.openxmlformats.org/officeDocument/2006/relationships" id="259" r:id="Rdf3d971a7a3e4156"/>
    <p:sldId xmlns:r="http://schemas.openxmlformats.org/officeDocument/2006/relationships" id="260" r:id="R677ec614723e4ca0"/>
  </p:sldIdLst>
  <p:sldSz cx="12192000" cy="6858000"/>
  <p:notesSz cx="6858000" cy="9144000"/>
  <p:defaultTextStyle>
    <a:defPPr xmlns:a="http://schemas.openxmlformats.org/drawingml/2006/main">
      <a:buNone/>
    </a:defPPr>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bfdc96fe98a4e29" /><Relationship Type="http://schemas.openxmlformats.org/officeDocument/2006/relationships/slideMaster" Target="/ppt/slideMasters/slideMaster1.xml" Id="R40a4251683094720" /><Relationship Type="http://schemas.openxmlformats.org/officeDocument/2006/relationships/notesMaster" Target="/ppt/notesMasters/notesMaster1.xml" Id="R84ecd7d6747b4bb3" /><Relationship Type="http://schemas.openxmlformats.org/officeDocument/2006/relationships/presProps" Target="/ppt/presProps.xml" Id="R0096ecad78014605" /><Relationship Type="http://schemas.openxmlformats.org/officeDocument/2006/relationships/viewProps" Target="/ppt/viewProps.xml" Id="R0edfa7f8641b4f11" /><Relationship Type="http://schemas.openxmlformats.org/officeDocument/2006/relationships/tableStyles" Target="/ppt/tableStyles.xml" Id="R554cab4217914c8a" /><Relationship Type="http://schemas.openxmlformats.org/officeDocument/2006/relationships/slide" Target="/ppt/slides/slide1.xml" Id="R9996cf46006645b6" /><Relationship Type="http://schemas.openxmlformats.org/officeDocument/2006/relationships/slide" Target="/ppt/slides/slide2.xml" Id="R85b875508f5a4e45" /><Relationship Type="http://schemas.openxmlformats.org/officeDocument/2006/relationships/slide" Target="/ppt/slides/slide3.xml" Id="Rf0ca2077035446f8" /><Relationship Type="http://schemas.openxmlformats.org/officeDocument/2006/relationships/slide" Target="/ppt/slides/slide4.xml" Id="Rdf3d971a7a3e4156" /><Relationship Type="http://schemas.openxmlformats.org/officeDocument/2006/relationships/slide" Target="/ppt/slides/slide5.xml" Id="R677ec614723e4c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3ce7aa0c4448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120d241e96402e" /><Relationship Type="http://schemas.openxmlformats.org/officeDocument/2006/relationships/notesMaster" Target="/ppt/notesMasters/notesMaster1.xml" Id="R1cffc56d900a4b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c6599fba334103" /><Relationship Type="http://schemas.openxmlformats.org/officeDocument/2006/relationships/notesMaster" Target="/ppt/notesMasters/notesMaster1.xml" Id="Ra0d696f6fa3743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206b0653fc4f7c" /><Relationship Type="http://schemas.openxmlformats.org/officeDocument/2006/relationships/notesMaster" Target="/ppt/notesMasters/notesMaster1.xml" Id="R96a6e06b2aaa49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a7bf7ec05244c3" /><Relationship Type="http://schemas.openxmlformats.org/officeDocument/2006/relationships/notesMaster" Target="/ppt/notesMasters/notesMaster1.xml" Id="Rf476f60fd25547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ee09f717b947f6" /><Relationship Type="http://schemas.openxmlformats.org/officeDocument/2006/relationships/notesMaster" Target="/ppt/notesMasters/notesMaster1.xml" Id="Rc3d03922f05a41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buNone/>
            </a:pPr>
            <a:r>
              <a:t>Opening (25 seconds): Previously, pickup used manually entered package coordinates. This week, we added YOLO and RGB-depth sensing to estimate pickup locations. The destination remains configured. The cover artwork is inherited from last week and is illustrative, not a screenshot of the running simulation.</a:t>
            </a:r>
            <a:endParaRPr sz="1800" b="0" u="none" strike="noStrike">
              <a:solidFill>
                <a:srgbClr val="000000"/>
              </a:solidFill>
              <a:latin typeface="Arial"/>
              <a:ea typeface="Arial"/>
              <a:cs typeface="Arial"/>
            </a:endParaRPr>
          </a:p>
          <a:p xmlns:a="http://schemas.openxmlformats.org/drawingml/2006/main">
            <a:pPr indent="0" algn="l">
              <a:buNone/>
            </a:pPr>
            <a:r>
              <a:t>Sources: /home/dzzz83/Downloads/09_WeeklyReport_06102026.pptx; /home/dzzz83/Documents/code/DroneSortingProject/README.md</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(45 seconds): We captured simulated camera images with different placements, rotations, heights and occlusion. Unity automatically generated bounding-box labels. We fine-tuned COCO-pretrained YOLO11n for 50 epochs on 200 RGB images: 140 training, 30 validation and 30 test. We grouped images by package configuration so related views stay in one split. Validation selected the best checkpoint. Depth is used during localization, not as YOLO training input. These examples are training labels, not detector predictions. This dataset tests the current simulated warehouse.</a:t>
            </a:r>
          </a:p>
          <a:p xmlns:a="http://schemas.openxmlformats.org/drawingml/2006/main">
            <a:r>
              <a:t>Sources: /home/dzzz83/Documents/code/DroneSortingProject/docs/verification.md, Package detector training trial; /home/dzzz83/Documents/code/DroneSortingProject/ROS1/build/package-training-trial/dataset/overlays/train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Localization (40 seconds): RGB captures appearance. YOLO identifies packages and returns image bounding boxes. Synchronized depth, camera calibration and pose turn those observations into a 3D surface estimate. The demo fits the top of an upright 0.6 m package to estimate its grasp center. ROS uses that accepted target for pickup. The RGB detection and grayscale depth shown here come from the same saved camera observation. The RGB visual uses the local fine-tuned checkpoint, confidence 0.25. This illustrates the sensing pipeline, not a new end-to-end mission test.</a:t>
            </a:r>
          </a:p>
          <a:p xmlns:a="http://schemas.openxmlformats.org/drawingml/2006/main">
            <a:r>
              <a:t>Sources: /home/dzzz83/Documents/code/DroneSortingProject/docs/project_context.md; /home/dzzz83/Documents/code/DroneSortingProject/ROS1/src/drone_sorting/src/drone_sorting/perception/package_perception.py; /tmp/drone-rgb-depth-verification/observation-rgb.png; /tmp/drone-rgb-depth-verification/observation-depth.png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introduction (30 seconds): The drone starts in the warehouse, ascends and travels to observation, hovers, selects a package from fresh camera observations, approaches and picks it up. It lifts only after Unity confirms attachment. It carries to the configured destination, lowers and releases, waits for Unity confirmation, and holds for settling. The current demo completes one delivery. Independent batch evaluation checked physical attachment and placement. This image is a warehouse spectator preview, not a claim about the live demo outcome. Switch to the live demo here and reserve 6–7 minutes.</a:t>
            </a:r>
          </a:p>
          <a:p xmlns:a="http://schemas.openxmlformats.org/drawingml/2006/main">
            <a:r>
              <a:t>Sources: /home/dzzz83/Documents/code/DroneSortingProject/README.md, Camera-guided single-package delivery; /home/dzzz83/Documents/code/DroneSortingProject/docs/verification.md, Full workflow from DroneStart; /home/dzzz83/Documents/code/DroneSortingProject/ROS1/build/spectator-views/view-2.png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after the demo (20 seconds): The next step is to add simulated LiDAR, validate its distance measurements and use them in ROS to detect obstacles and adjust movement during delivery. This is planned work. The current camera delivery route has avoidance disabled. The warehouse image shows existing simulation geometry, not implemented LiDAR scan output.</a:t>
            </a:r>
          </a:p>
          <a:p xmlns:a="http://schemas.openxmlformats.org/drawingml/2006/main">
            <a:r>
              <a:t>Sources for current behavior: /home/dzzz83/Documents/code/DroneSortingProject/README.md; /home/dzzz83/Documents/code/DroneSortingProject/docs/PLAN.md. Planned LiDAR milestone: user request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0518dce5724775" /></Relationships>
</file>

<file path=ppt/slideLayouts/slideLayout1.xml><?xml version="1.0" encoding="utf-8"?>
<p:sldLayout xmlns:p="http://schemas.openxmlformats.org/presentationml/2006/main" showMasterSp="1" showMasterPhAnim="0" matchingName="" type="blank" preserve="1" userDrawn="1">
  <p:cSld name="DEFAULT">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e25b9f60fb4b6e" /><Relationship Type="http://schemas.openxmlformats.org/officeDocument/2006/relationships/slideLayout" Target="/ppt/slideLayouts/slideLayout1.xml" Id="Rd5cdfc21c43a4f55"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27226027" name="PlaceHolder 1">
            <a:extLst xmlns:a="http://schemas.openxmlformats.org/drawingml/2006/main">
              <a:ext uri="{FF2B5EF4-FFF2-40B4-BE49-F238E27FC236}">
                <a16:creationId xmlns:a16="http://schemas.microsoft.com/office/drawing/2014/main" id="{355F765A-0B01-4557-A764-29DB476DAB52}"/>
              </a:ext>
            </a:extLst>
          </p:cNvPr>
          <p:cNvSpPr>
            <a:spLocks xmlns:a="http://schemas.openxmlformats.org/drawingml/2006/main" noGrp="1"/>
          </p:cNvSpPr>
          <p:nvPr>
            <p:ph type="title" idx="0"/>
          </p:nvPr>
        </p:nvSpPr>
        <p:spPr>
          <a:xfrm xmlns:a="http://schemas.openxmlformats.org/drawingml/2006/main">
            <a:off x="609480" y="273600"/>
            <a:ext cx="10972079"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l">
              <a:buNone/>
              <a:defRPr sz="1800" b="0" u="none" strike="noStrike">
                <a:solidFill>
                  <a:schemeClr val="dk1"/>
                </a:solidFill>
                <a:latin typeface="Aptos"/>
                <a:ea typeface="Aptos"/>
                <a:cs typeface="Aptos"/>
              </a:defRPr>
            </a:lvl1pPr>
          </a:lstStyle>
          <a:p xmlns:a="http://schemas.openxmlformats.org/drawingml/2006/main">
            <a:pPr indent="0" algn="l">
              <a:buNone/>
            </a:pPr>
            <a:r>
              <a:rPr sz="1800" b="0" u="none" strike="noStrike">
                <a:solidFill>
                  <a:schemeClr val="dk1"/>
                </a:solidFill>
                <a:latin typeface="Aptos"/>
                <a:ea typeface="Aptos"/>
                <a:cs typeface="Aptos"/>
              </a:rPr>
              <a:t>Click to edit the title text format</a:t>
            </a:r>
            <a:endParaRPr/>
          </a:p>
        </p:txBody>
      </p:sp>
      <p:sp>
        <p:nvSpPr>
          <p:cNvPr id="276815661" name="PlaceHolder 2">
            <a:extLst xmlns:a="http://schemas.openxmlformats.org/drawingml/2006/main">
              <a:ext uri="{FF2B5EF4-FFF2-40B4-BE49-F238E27FC236}">
                <a16:creationId xmlns:a16="http://schemas.microsoft.com/office/drawing/2014/main" id="{DA5CE945-3DB5-4551-8023-BA32FAE605D9}"/>
              </a:ext>
            </a:extLst>
          </p:cNvPr>
          <p:cNvSpPr>
            <a:spLocks xmlns:a="http://schemas.openxmlformats.org/drawingml/2006/main" noGrp="1"/>
          </p:cNvSpPr>
          <p:nvPr>
            <p:ph type="body" idx="0"/>
          </p:nvPr>
        </p:nvSpPr>
        <p:spPr>
          <a:xfrm xmlns:a="http://schemas.openxmlformats.org/drawingml/2006/main">
            <a:off x="609480" y="1604520"/>
            <a:ext cx="10972079"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spcBef>
                <a:spcPts val="1417"/>
              </a:spcBef>
              <a:buClr>
                <a:srgbClr val="000000"/>
              </a:buClr>
              <a:buSzPct val="45000"/>
              <a:buFont typeface="Wingdings"/>
              <a:buChar char=""/>
              <a:defRPr sz="3200" b="0" u="none" strike="noStrike">
                <a:solidFill>
                  <a:schemeClr val="dk1"/>
                </a:solidFill>
                <a:latin typeface="Aptos"/>
                <a:ea typeface="Aptos"/>
                <a:cs typeface="Aptos"/>
              </a:defRPr>
            </a:lvl1pPr>
            <a:lvl2pPr algn="l">
              <a:spcBef>
                <a:spcPts val="1134"/>
              </a:spcBef>
              <a:buClr>
                <a:srgbClr val="000000"/>
              </a:buClr>
              <a:buSzPct val="75000"/>
              <a:buFont typeface="Symbol"/>
              <a:buChar char=""/>
              <a:defRPr sz="2400" b="0" u="none" strike="noStrike">
                <a:solidFill>
                  <a:schemeClr val="dk1"/>
                </a:solidFill>
                <a:latin typeface="Aptos"/>
                <a:ea typeface="Aptos"/>
                <a:cs typeface="Aptos"/>
              </a:defRPr>
            </a:lvl2pPr>
            <a:lvl3pPr algn="l">
              <a:spcBef>
                <a:spcPts val="850"/>
              </a:spcBef>
              <a:buClr>
                <a:srgbClr val="000000"/>
              </a:buClr>
              <a:buSzPct val="45000"/>
              <a:buFont typeface="Wingdings"/>
              <a:buChar char=""/>
              <a:defRPr sz="2000" b="0" u="none" strike="noStrike">
                <a:solidFill>
                  <a:schemeClr val="dk1"/>
                </a:solidFill>
                <a:latin typeface="Aptos"/>
                <a:ea typeface="Aptos"/>
                <a:cs typeface="Aptos"/>
              </a:defRPr>
            </a:lvl3pPr>
            <a:lvl4pPr algn="l">
              <a:spcBef>
                <a:spcPts val="567"/>
              </a:spcBef>
              <a:buClr>
                <a:srgbClr val="000000"/>
              </a:buClr>
              <a:buSzPct val="75000"/>
              <a:buFont typeface="Symbol"/>
              <a:buChar char=""/>
              <a:defRPr sz="2000" b="0" u="none" strike="noStrike">
                <a:solidFill>
                  <a:schemeClr val="dk1"/>
                </a:solidFill>
                <a:latin typeface="Aptos"/>
                <a:ea typeface="Aptos"/>
                <a:cs typeface="Aptos"/>
              </a:defRPr>
            </a:lvl4pPr>
            <a:lvl5pPr algn="l">
              <a:spcBef>
                <a:spcPts val="283"/>
              </a:spcBef>
              <a:buClr>
                <a:srgbClr val="000000"/>
              </a:buClr>
              <a:buSzPct val="45000"/>
              <a:buFont typeface="Wingdings"/>
              <a:buChar char=""/>
              <a:defRPr sz="2000" b="0" u="none" strike="noStrike">
                <a:solidFill>
                  <a:schemeClr val="dk1"/>
                </a:solidFill>
                <a:latin typeface="Aptos"/>
                <a:ea typeface="Aptos"/>
                <a:cs typeface="Aptos"/>
              </a:defRPr>
            </a:lvl5pPr>
            <a:lvl6pPr algn="l">
              <a:spcBef>
                <a:spcPts val="283"/>
              </a:spcBef>
              <a:buClr>
                <a:srgbClr val="000000"/>
              </a:buClr>
              <a:buSzPct val="45000"/>
              <a:buFont typeface="Wingdings"/>
              <a:buChar char=""/>
              <a:defRPr sz="2000" b="0" u="none" strike="noStrike">
                <a:solidFill>
                  <a:schemeClr val="dk1"/>
                </a:solidFill>
                <a:latin typeface="Aptos"/>
                <a:ea typeface="Aptos"/>
                <a:cs typeface="Aptos"/>
              </a:defRPr>
            </a:lvl6pPr>
            <a:lvl7pPr algn="l">
              <a:spcBef>
                <a:spcPts val="283"/>
              </a:spcBef>
              <a:buClr>
                <a:srgbClr val="000000"/>
              </a:buClr>
              <a:buSzPct val="45000"/>
              <a:buFont typeface="Wingdings"/>
              <a:buChar char=""/>
              <a:defRPr sz="2000" b="0" u="none" strike="noStrike">
                <a:solidFill>
                  <a:schemeClr val="dk1"/>
                </a:solidFill>
                <a:latin typeface="Aptos"/>
                <a:ea typeface="Aptos"/>
                <a:cs typeface="Aptos"/>
              </a:defRPr>
            </a:lvl7pPr>
          </a:lstStyle>
          <a:p xmlns:a="http://schemas.openxmlformats.org/drawingml/2006/main">
            <a:pPr marL="432000" indent="-324000" algn="l">
              <a:spcBef>
                <a:spcPts val="1417"/>
              </a:spcBef>
              <a:buClr>
                <a:srgbClr val="000000"/>
              </a:buClr>
              <a:buSzPct val="45000"/>
              <a:buFont typeface="Wingdings"/>
              <a:buChar char=""/>
            </a:pPr>
            <a:r>
              <a:rPr sz="3200" b="0" u="none" strike="noStrike">
                <a:solidFill>
                  <a:schemeClr val="dk1"/>
                </a:solidFill>
                <a:latin typeface="Aptos"/>
                <a:ea typeface="Aptos"/>
                <a:cs typeface="Aptos"/>
              </a:rPr>
              <a:t>Click to edit the outline text format</a:t>
            </a:r>
            <a:endParaRPr/>
          </a:p>
          <a:p xmlns:a="http://schemas.openxmlformats.org/drawingml/2006/main">
            <a:pPr marL="864000" lvl="1" indent="-324000" algn="l">
              <a:spcBef>
                <a:spcPts val="1134"/>
              </a:spcBef>
              <a:buClr>
                <a:srgbClr val="000000"/>
              </a:buClr>
              <a:buSzPct val="75000"/>
              <a:buFont typeface="Symbol"/>
              <a:buChar char=""/>
            </a:pPr>
            <a:r>
              <a:rPr sz="2400" b="0" u="none" strike="noStrike">
                <a:solidFill>
                  <a:schemeClr val="dk1"/>
                </a:solidFill>
                <a:latin typeface="Aptos"/>
                <a:ea typeface="Aptos"/>
                <a:cs typeface="Aptos"/>
              </a:rPr>
              <a:t>Second Outline Level</a:t>
            </a:r>
            <a:endParaRPr/>
          </a:p>
          <a:p xmlns:a="http://schemas.openxmlformats.org/drawingml/2006/main">
            <a:pPr marL="1296000" lvl="2" indent="-288000" algn="l">
              <a:spcBef>
                <a:spcPts val="850"/>
              </a:spcBef>
              <a:buClr>
                <a:srgbClr val="000000"/>
              </a:buClr>
              <a:buSzPct val="45000"/>
              <a:buFont typeface="Wingdings"/>
              <a:buChar char=""/>
            </a:pPr>
            <a:r>
              <a:rPr sz="2000" b="0" u="none" strike="noStrike">
                <a:solidFill>
                  <a:schemeClr val="dk1"/>
                </a:solidFill>
                <a:latin typeface="Aptos"/>
                <a:ea typeface="Aptos"/>
                <a:cs typeface="Aptos"/>
              </a:rPr>
              <a:t>Third Outline Level</a:t>
            </a:r>
            <a:endParaRPr/>
          </a:p>
          <a:p xmlns:a="http://schemas.openxmlformats.org/drawingml/2006/main">
            <a:pPr marL="1728000" lvl="3" indent="-216000" algn="l">
              <a:spcBef>
                <a:spcPts val="567"/>
              </a:spcBef>
              <a:buClr>
                <a:srgbClr val="000000"/>
              </a:buClr>
              <a:buSzPct val="75000"/>
              <a:buFont typeface="Symbol"/>
              <a:buChar char=""/>
            </a:pPr>
            <a:r>
              <a:rPr sz="2000" b="0" u="none" strike="noStrike">
                <a:solidFill>
                  <a:schemeClr val="dk1"/>
                </a:solidFill>
                <a:latin typeface="Aptos"/>
                <a:ea typeface="Aptos"/>
                <a:cs typeface="Aptos"/>
              </a:rPr>
              <a:t>Fourth Outline Level</a:t>
            </a:r>
            <a:endParaRPr/>
          </a:p>
          <a:p xmlns:a="http://schemas.openxmlformats.org/drawingml/2006/main">
            <a:pPr marL="2160000" lvl="4" indent="-216000" algn="l">
              <a:spcBef>
                <a:spcPts val="283"/>
              </a:spcBef>
              <a:buClr>
                <a:srgbClr val="000000"/>
              </a:buClr>
              <a:buSzPct val="45000"/>
              <a:buFont typeface="Wingdings"/>
              <a:buChar char=""/>
            </a:pPr>
            <a:r>
              <a:rPr sz="2000" b="0" u="none" strike="noStrike">
                <a:solidFill>
                  <a:schemeClr val="dk1"/>
                </a:solidFill>
                <a:latin typeface="Aptos"/>
                <a:ea typeface="Aptos"/>
                <a:cs typeface="Aptos"/>
              </a:rPr>
              <a:t>Fifth Outline Level</a:t>
            </a:r>
            <a:endParaRPr/>
          </a:p>
          <a:p xmlns:a="http://schemas.openxmlformats.org/drawingml/2006/main">
            <a:pPr marL="2592000" lvl="5" indent="-216000" algn="l">
              <a:spcBef>
                <a:spcPts val="283"/>
              </a:spcBef>
              <a:buClr>
                <a:srgbClr val="000000"/>
              </a:buClr>
              <a:buSzPct val="45000"/>
              <a:buFont typeface="Wingdings"/>
              <a:buChar char=""/>
            </a:pPr>
            <a:r>
              <a:rPr sz="2000" b="0" u="none" strike="noStrike">
                <a:solidFill>
                  <a:schemeClr val="dk1"/>
                </a:solidFill>
                <a:latin typeface="Aptos"/>
                <a:ea typeface="Aptos"/>
                <a:cs typeface="Aptos"/>
              </a:rPr>
              <a:t>Sixth Outline Level</a:t>
            </a:r>
            <a:endParaRPr/>
          </a:p>
          <a:p xmlns:a="http://schemas.openxmlformats.org/drawingml/2006/main">
            <a:pPr marL="3024000" lvl="6" indent="-216000" algn="l">
              <a:spcBef>
                <a:spcPts val="283"/>
              </a:spcBef>
              <a:buClr>
                <a:srgbClr val="000000"/>
              </a:buClr>
              <a:buSzPct val="45000"/>
              <a:buFont typeface="Wingdings"/>
              <a:buChar char=""/>
            </a:pPr>
            <a:r>
              <a:rPr sz="2000" b="0" u="none" strike="noStrike">
                <a:solidFill>
                  <a:schemeClr val="dk1"/>
                </a:solidFill>
                <a:latin typeface="Aptos"/>
                <a:ea typeface="Aptos"/>
                <a:cs typeface="Aptos"/>
              </a:rPr>
              <a:t>Seventh Outline Level</a:t>
            </a: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cdfc21c43a4f55"/>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d4e94be6db4175" /><Relationship Type="http://schemas.openxmlformats.org/officeDocument/2006/relationships/image" Target="/ppt/media/image.png" Id="Rfc928a47ded84cd9" /><Relationship Type="http://schemas.openxmlformats.org/officeDocument/2006/relationships/notesSlide" Target="/ppt/notesSlides/notesSlide1.xml" Id="R16ba5c00d35447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ef2a9f37b14129" /><Relationship Type="http://schemas.openxmlformats.org/officeDocument/2006/relationships/image" Target="/ppt/media/image2.png" Id="Re1f00e55cc324b1f" /><Relationship Type="http://schemas.openxmlformats.org/officeDocument/2006/relationships/image" Target="/ppt/media/image3.png" Id="R15ccc03801ba4773" /><Relationship Type="http://schemas.openxmlformats.org/officeDocument/2006/relationships/image" Target="/ppt/media/image4.png" Id="Rac6152e448e449b0" /><Relationship Type="http://schemas.openxmlformats.org/officeDocument/2006/relationships/notesSlide" Target="/ppt/notesSlides/notesSlide2.xml" Id="R41f4240420954e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24354be5bf4705" /><Relationship Type="http://schemas.openxmlformats.org/officeDocument/2006/relationships/image" Target="/ppt/media/image5.png" Id="R3fdfb623eee64953" /><Relationship Type="http://schemas.openxmlformats.org/officeDocument/2006/relationships/image" Target="/ppt/media/image6.png" Id="R5e926a37725d4e0f" /><Relationship Type="http://schemas.openxmlformats.org/officeDocument/2006/relationships/notesSlide" Target="/ppt/notesSlides/notesSlide3.xml" Id="Racd3819bc39b41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72fd27aa544ea1" /><Relationship Type="http://schemas.openxmlformats.org/officeDocument/2006/relationships/image" Target="/ppt/media/image7.png" Id="Rcdf76c8260804531" /><Relationship Type="http://schemas.openxmlformats.org/officeDocument/2006/relationships/notesSlide" Target="/ppt/notesSlides/notesSlide4.xml" Id="Rd333a8197f3547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7e51bad1964aa8" /><Relationship Type="http://schemas.openxmlformats.org/officeDocument/2006/relationships/image" Target="/ppt/media/image8.png" Id="Rd36a8256236c4e99" /><Relationship Type="http://schemas.openxmlformats.org/officeDocument/2006/relationships/notesSlide" Target="/ppt/notesSlides/notesSlide5.xml" Id="R95bb0043e84948e4" /></Relationships>
</file>

<file path=ppt/slides/slide1.xml><?xml version="1.0" encoding="utf-8"?>
<p:sld xmlns:p="http://schemas.openxmlformats.org/presentationml/2006/main" showMasterSp="1" show="1">
  <p:cSld>
    <p:bg>
      <p:bgPr>
        <a:solidFill xmlns:a="http://schemas.openxmlformats.org/drawingml/2006/main">
          <a:srgbClr val="F8FBFD"/>
        </a:solidFill>
      </p:bgPr>
    </p:bg>
    <p:spTree>
      <p:nvGrpSpPr>
        <p:cNvPr id="1" name=""/>
        <p:cNvGrpSpPr/>
        <p:nvPr/>
      </p:nvGrpSpPr>
      <p:grpSpPr>
        <a:xfrm xmlns:a="http://schemas.openxmlformats.org/drawingml/2006/main"/>
      </p:grpSpPr>
      <p:pic>
        <p:nvPicPr>
          <p:cNvPr id="514561829" name="Picture 1">
            <a:extLst xmlns:a="http://schemas.openxmlformats.org/drawingml/2006/main">
              <a:ext uri="{FF2B5EF4-FFF2-40B4-BE49-F238E27FC236}">
                <a16:creationId xmlns:a16="http://schemas.microsoft.com/office/drawing/2014/main" id="{D4938C2D-8E9D-408B-B1BF-84C2C4F7FE7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c928a47ded84cd9"/>
          <a:stretch xmlns:a="http://schemas.openxmlformats.org/drawingml/2006/main"/>
        </p:blipFill>
        <p:spPr>
          <a:xfrm xmlns:a="http://schemas.openxmlformats.org/drawingml/2006/main">
            <a:off x="0" y="0"/>
            <a:ext cx="12191400" cy="6857640"/>
          </a:xfrm>
          <a:prstGeom xmlns:a="http://schemas.openxmlformats.org/drawingml/2006/main" prst="rect">
            <a:avLst/>
          </a:prstGeom>
          <a:ln xmlns:a="http://schemas.openxmlformats.org/drawingml/2006/main" w="0">
            <a:noFill/>
          </a:ln>
        </p:spPr>
      </p:pic>
      <p:sp>
        <p:nvSpPr>
          <p:cNvPr id="1050937632" name="Rectangle 2">
            <a:extLst xmlns:a="http://schemas.openxmlformats.org/drawingml/2006/main">
              <a:ext uri="{FF2B5EF4-FFF2-40B4-BE49-F238E27FC236}">
                <a16:creationId xmlns:a16="http://schemas.microsoft.com/office/drawing/2014/main" id="{9DFF70C6-F933-4AC1-A029-58D342073BC2}"/>
              </a:ext>
            </a:extLst>
          </p:cNvPr>
          <p:cNvSpPr>
            <a:spLocks xmlns:a="http://schemas.openxmlformats.org/drawingml/2006/main" noGrp="1"/>
          </p:cNvSpPr>
          <p:nvPr/>
        </p:nvSpPr>
        <p:spPr>
          <a:xfrm xmlns:a="http://schemas.openxmlformats.org/drawingml/2006/main">
            <a:off x="0" y="0"/>
            <a:ext cx="6095520" cy="6857640"/>
          </a:xfrm>
          <a:prstGeom xmlns:a="http://schemas.openxmlformats.org/drawingml/2006/main" prst="rect">
            <a:avLst/>
          </a:prstGeom>
          <a:solidFill xmlns:a="http://schemas.openxmlformats.org/drawingml/2006/main">
            <a:srgbClr val="05112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chemeClr val="lt1"/>
              </a:solidFill>
              <a:latin typeface="Aptos"/>
              <a:ea typeface="Aptos"/>
              <a:cs typeface="Aptos"/>
            </a:endParaRPr>
          </a:p>
        </p:txBody>
      </p:sp>
      <p:sp>
        <p:nvSpPr>
          <p:cNvPr id="1365539333" name="Rectangle 3">
            <a:extLst xmlns:a="http://schemas.openxmlformats.org/drawingml/2006/main">
              <a:ext uri="{FF2B5EF4-FFF2-40B4-BE49-F238E27FC236}">
                <a16:creationId xmlns:a16="http://schemas.microsoft.com/office/drawing/2014/main" id="{B48DF191-A16D-4A54-8C3F-450E708EB9F6}"/>
              </a:ext>
            </a:extLst>
          </p:cNvPr>
          <p:cNvSpPr>
            <a:spLocks xmlns:a="http://schemas.openxmlformats.org/drawingml/2006/main" noGrp="1"/>
          </p:cNvSpPr>
          <p:nvPr/>
        </p:nvSpPr>
        <p:spPr>
          <a:xfrm xmlns:a="http://schemas.openxmlformats.org/drawingml/2006/main">
            <a:off x="0" y="5486400"/>
            <a:ext cx="12191400" cy="1371240"/>
          </a:xfrm>
          <a:prstGeom xmlns:a="http://schemas.openxmlformats.org/drawingml/2006/main" prst="rect">
            <a:avLst/>
          </a:prstGeom>
          <a:solidFill xmlns:a="http://schemas.openxmlformats.org/drawingml/2006/main">
            <a:srgbClr val="02091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strike="noStrike">
              <a:solidFill>
                <a:schemeClr val="lt1"/>
              </a:solidFill>
              <a:latin typeface="Aptos"/>
              <a:ea typeface="Aptos"/>
              <a:cs typeface="Aptos"/>
            </a:endParaRPr>
          </a:p>
        </p:txBody>
      </p:sp>
      <p:sp>
        <p:nvSpPr>
          <p:cNvPr id="1675835327" name="TextBox 4">
            <a:extLst xmlns:a="http://schemas.openxmlformats.org/drawingml/2006/main">
              <a:ext uri="{FF2B5EF4-FFF2-40B4-BE49-F238E27FC236}">
                <a16:creationId xmlns:a16="http://schemas.microsoft.com/office/drawing/2014/main" id="{2F631086-3527-4F01-9D63-BB5C982771F7}"/>
              </a:ext>
            </a:extLst>
          </p:cNvPr>
          <p:cNvSpPr>
            <a:spLocks xmlns:a="http://schemas.openxmlformats.org/drawingml/2006/main" noGrp="1"/>
          </p:cNvSpPr>
          <p:nvPr/>
        </p:nvSpPr>
        <p:spPr>
          <a:xfrm xmlns:a="http://schemas.openxmlformats.org/drawingml/2006/main">
            <a:off x="713160" y="694800"/>
            <a:ext cx="2121513" cy="303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srgbClr val="000000"/>
          </a:lnRef>
          <a:fillRef xmlns:a="http://schemas.openxmlformats.org/drawingml/2006/main" idx="0">
            <a:srgbClr val="000000"/>
          </a:fillRef>
          <a:effectRef xmlns:a="http://schemas.openxmlformats.org/drawingml/2006/main" idx="0">
            <a:srgbClr val="000000"/>
          </a:effectRef>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defTabSz="914400">
              <a:lnSpc>
                <a:spcPct val="100000"/>
              </a:lnSpc>
              <a:buNone/>
            </a:pPr>
            <a:r>
              <a:rPr sz="1400" b="1" u="none" strike="noStrike">
                <a:solidFill>
                  <a:srgbClr val="53D5FF"/>
                </a:solidFill>
                <a:latin typeface="Arial"/>
                <a:ea typeface="Arial"/>
                <a:cs typeface="Arial"/>
              </a:rPr>
              <a:t>UC9 WEEKLY REPORT</a:t>
            </a:r>
            <a:endParaRPr sz="1400" b="0" u="none" strike="noStrike">
              <a:solidFill>
                <a:srgbClr val="000000"/>
              </a:solidFill>
              <a:latin typeface="Arial"/>
              <a:ea typeface="Arial"/>
              <a:cs typeface="Arial"/>
            </a:endParaRPr>
          </a:p>
        </p:txBody>
      </p:sp>
      <p:sp>
        <p:nvSpPr>
          <p:cNvPr id="741966966" name="Rectangle 5">
            <a:extLst xmlns:a="http://schemas.openxmlformats.org/drawingml/2006/main">
              <a:ext uri="{FF2B5EF4-FFF2-40B4-BE49-F238E27FC236}">
                <a16:creationId xmlns:a16="http://schemas.microsoft.com/office/drawing/2014/main" id="{5A66BFE2-E0FD-4158-B45E-9B4DAF2F2730}"/>
              </a:ext>
            </a:extLst>
          </p:cNvPr>
          <p:cNvSpPr>
            <a:spLocks xmlns:a="http://schemas.openxmlformats.org/drawingml/2006/main" noGrp="1"/>
          </p:cNvSpPr>
          <p:nvPr/>
        </p:nvSpPr>
        <p:spPr>
          <a:xfrm xmlns:a="http://schemas.openxmlformats.org/drawingml/2006/main">
            <a:off x="713160" y="1152000"/>
            <a:ext cx="1416960" cy="54360"/>
          </a:xfrm>
          <a:prstGeom xmlns:a="http://schemas.openxmlformats.org/drawingml/2006/main" prst="rect">
            <a:avLst/>
          </a:prstGeom>
          <a:solidFill xmlns:a="http://schemas.openxmlformats.org/drawingml/2006/main">
            <a:srgbClr val="53D5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9720" rIns="90000" bIns="9720" anchor="ctr">
            <a:noAutofit/>
          </a:bodyPr>
          <a:lstStyle xmlns:a="http://schemas.openxmlformats.org/drawingml/2006/main"/>
          <a:p xmlns:a="http://schemas.openxmlformats.org/drawingml/2006/main">
            <a:pPr>
              <a:buNone/>
            </a:pPr>
            <a:endParaRPr sz="1800" b="0" u="none" strike="noStrike">
              <a:solidFill>
                <a:schemeClr val="lt1"/>
              </a:solidFill>
              <a:latin typeface="Aptos"/>
              <a:ea typeface="Aptos"/>
              <a:cs typeface="Aptos"/>
            </a:endParaRPr>
          </a:p>
        </p:txBody>
      </p:sp>
      <p:sp>
        <p:nvSpPr>
          <p:cNvPr id="1188748448" name="TextBox 6">
            <a:extLst xmlns:a="http://schemas.openxmlformats.org/drawingml/2006/main">
              <a:ext uri="{FF2B5EF4-FFF2-40B4-BE49-F238E27FC236}">
                <a16:creationId xmlns:a16="http://schemas.microsoft.com/office/drawing/2014/main" id="{9ACFCC77-CA13-4FE5-91DE-D666AAC222FD}"/>
              </a:ext>
            </a:extLst>
          </p:cNvPr>
          <p:cNvSpPr>
            <a:spLocks xmlns:a="http://schemas.openxmlformats.org/drawingml/2006/main" noGrp="1"/>
          </p:cNvSpPr>
          <p:nvPr/>
        </p:nvSpPr>
        <p:spPr>
          <a:xfrm xmlns:a="http://schemas.openxmlformats.org/drawingml/2006/main">
            <a:off x="676800" y="1664280"/>
            <a:ext cx="4708800" cy="2148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srgbClr val="000000"/>
          </a:lnRef>
          <a:fillRef xmlns:a="http://schemas.openxmlformats.org/drawingml/2006/main" idx="0">
            <a:srgbClr val="000000"/>
          </a:fillRef>
          <a:effectRef xmlns:a="http://schemas.openxmlformats.org/drawingml/2006/main" idx="0">
            <a:srgbClr val="000000"/>
          </a:effectRef>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defTabSz="914400">
              <a:lnSpc>
                <a:spcPct val="90000"/>
              </a:lnSpc>
              <a:buNone/>
            </a:pPr>
            <a:r>
              <a:rPr sz="4600" b="1" u="none" strike="noStrike">
                <a:solidFill>
                  <a:srgbClr val="FFFFFF"/>
                </a:solidFill>
                <a:latin typeface="Arial"/>
                <a:ea typeface="Arial"/>
                <a:cs typeface="Arial"/>
              </a:rPr>
              <a:t>Drone</a:t>
            </a:r>
            <a:br>
              <a:rPr sz="4600"/>
            </a:br>
            <a:r>
              <a:rPr sz="4600" b="1" u="none" strike="noStrike">
                <a:solidFill>
                  <a:srgbClr val="FFFFFF"/>
                </a:solidFill>
                <a:latin typeface="Arial"/>
                <a:ea typeface="Arial"/>
                <a:cs typeface="Arial"/>
              </a:rPr>
              <a:t>Obstacle</a:t>
            </a:r>
            <a:br>
              <a:rPr sz="4600"/>
            </a:br>
            <a:r>
              <a:rPr sz="4600" b="1" u="none" strike="noStrike">
                <a:solidFill>
                  <a:srgbClr val="FFFFFF"/>
                </a:solidFill>
                <a:latin typeface="Arial"/>
                <a:ea typeface="Arial"/>
                <a:cs typeface="Arial"/>
              </a:rPr>
              <a:t>Avoidance</a:t>
            </a:r>
            <a:endParaRPr sz="4600" b="0" u="none" strike="noStrike">
              <a:solidFill>
                <a:srgbClr val="000000"/>
              </a:solidFill>
              <a:latin typeface="Arial"/>
              <a:ea typeface="Arial"/>
              <a:cs typeface="Arial"/>
            </a:endParaRPr>
          </a:p>
        </p:txBody>
      </p:sp>
      <p:sp>
        <p:nvSpPr>
          <p:cNvPr id="1661586755" name="TextBox 7">
            <a:extLst xmlns:a="http://schemas.openxmlformats.org/drawingml/2006/main">
              <a:ext uri="{FF2B5EF4-FFF2-40B4-BE49-F238E27FC236}">
                <a16:creationId xmlns:a16="http://schemas.microsoft.com/office/drawing/2014/main" id="{6FAEDD33-2236-4A48-98C7-0DCC53885355}"/>
              </a:ext>
            </a:extLst>
          </p:cNvPr>
          <p:cNvSpPr>
            <a:spLocks xmlns:a="http://schemas.openxmlformats.org/drawingml/2006/main" noGrp="1"/>
          </p:cNvSpPr>
          <p:nvPr/>
        </p:nvSpPr>
        <p:spPr>
          <a:xfrm xmlns:a="http://schemas.openxmlformats.org/drawingml/2006/main">
            <a:off x="713137" y="4160520"/>
            <a:ext cx="3907450" cy="3948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srgbClr val="000000"/>
          </a:lnRef>
          <a:fillRef xmlns:a="http://schemas.openxmlformats.org/drawingml/2006/main" idx="0">
            <a:srgbClr val="000000"/>
          </a:fillRef>
          <a:effectRef xmlns:a="http://schemas.openxmlformats.org/drawingml/2006/main" idx="0">
            <a:srgbClr val="000000"/>
          </a:effectRef>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defTabSz="914400">
              <a:lnSpc>
                <a:spcPct val="100000"/>
              </a:lnSpc>
              <a:buNone/>
            </a:pPr>
            <a:r>
              <a:rPr sz="2000" b="0" u="none" strike="noStrike">
                <a:solidFill>
                  <a:srgbClr val="E0EEF6"/>
                </a:solidFill>
                <a:latin typeface="Arial"/>
                <a:ea typeface="Arial"/>
                <a:cs typeface="Arial"/>
              </a:rPr>
              <a:t>Camera-guided package delivery</a:t>
            </a:r>
            <a:endParaRPr sz="2000" b="0" u="none" strike="noStrike">
              <a:solidFill>
                <a:srgbClr val="000000"/>
              </a:solidFill>
              <a:latin typeface="Arial"/>
              <a:ea typeface="Arial"/>
              <a:cs typeface="Arial"/>
            </a:endParaRPr>
          </a:p>
        </p:txBody>
      </p:sp>
      <p:sp>
        <p:nvSpPr>
          <p:cNvPr id="1689238196" name="TextBox 8">
            <a:extLst xmlns:a="http://schemas.openxmlformats.org/drawingml/2006/main">
              <a:ext uri="{FF2B5EF4-FFF2-40B4-BE49-F238E27FC236}">
                <a16:creationId xmlns:a16="http://schemas.microsoft.com/office/drawing/2014/main" id="{0E9D39BC-9185-4637-9839-8E6BA9902884}"/>
              </a:ext>
            </a:extLst>
          </p:cNvPr>
          <p:cNvSpPr>
            <a:spLocks xmlns:a="http://schemas.openxmlformats.org/drawingml/2006/main" noGrp="1"/>
          </p:cNvSpPr>
          <p:nvPr/>
        </p:nvSpPr>
        <p:spPr>
          <a:xfrm xmlns:a="http://schemas.openxmlformats.org/drawingml/2006/main">
            <a:off x="713160" y="4590360"/>
            <a:ext cx="2816837" cy="303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srgbClr val="000000"/>
          </a:lnRef>
          <a:fillRef xmlns:a="http://schemas.openxmlformats.org/drawingml/2006/main" idx="0">
            <a:srgbClr val="000000"/>
          </a:fillRef>
          <a:effectRef xmlns:a="http://schemas.openxmlformats.org/drawingml/2006/main" idx="0">
            <a:srgbClr val="000000"/>
          </a:effectRef>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defTabSz="914400">
              <a:lnSpc>
                <a:spcPct val="100000"/>
              </a:lnSpc>
              <a:buNone/>
            </a:pPr>
            <a:r>
              <a:rPr sz="1400" b="0" u="none" strike="noStrike">
                <a:solidFill>
                  <a:srgbClr val="A5B9CA"/>
                </a:solidFill>
                <a:latin typeface="Arial"/>
                <a:ea typeface="Arial"/>
                <a:cs typeface="Arial"/>
              </a:rPr>
              <a:t>Weekly update / 14 October 2026</a:t>
            </a:r>
            <a:endParaRPr sz="1400" b="0" u="none" strike="noStrike">
              <a:solidFill>
                <a:srgbClr val="000000"/>
              </a:solidFill>
              <a:latin typeface="Arial"/>
              <a:ea typeface="Arial"/>
              <a:cs typeface="Arial"/>
            </a:endParaRPr>
          </a:p>
        </p:txBody>
      </p:sp>
      <p:sp>
        <p:nvSpPr>
          <p:cNvPr id="880640276" name="Rounded Rectangle 9">
            <a:extLst xmlns:a="http://schemas.openxmlformats.org/drawingml/2006/main">
              <a:ext uri="{FF2B5EF4-FFF2-40B4-BE49-F238E27FC236}">
                <a16:creationId xmlns:a16="http://schemas.microsoft.com/office/drawing/2014/main" id="{AA9D53DC-CB58-45E0-9227-FB8F439195C4}"/>
              </a:ext>
            </a:extLst>
          </p:cNvPr>
          <p:cNvSpPr>
            <a:spLocks xmlns:a="http://schemas.openxmlformats.org/drawingml/2006/main" noGrp="1"/>
          </p:cNvSpPr>
          <p:nvPr/>
        </p:nvSpPr>
        <p:spPr>
          <a:xfrm xmlns:a="http://schemas.openxmlformats.org/drawingml/2006/main">
            <a:off x="713160" y="5257800"/>
            <a:ext cx="1170000" cy="347040"/>
          </a:xfrm>
          <a:prstGeom xmlns:a="http://schemas.openxmlformats.org/drawingml/2006/main" prst="roundRect">
            <a:avLst>
              <a:gd name="adj" fmla="val 16667"/>
            </a:avLst>
          </a:prstGeom>
          <a:solidFill xmlns:a="http://schemas.openxmlformats.org/drawingml/2006/main">
            <a:srgbClr val="0B304E"/>
          </a:solidFill>
          <a:ln xmlns:a="http://schemas.openxmlformats.org/drawingml/2006/main">
            <a:solidFill>
              <a:srgbClr val="53D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45720" tIns="27360" rIns="45720" bIns="18360" anchor="ctr">
            <a:noAutofit/>
          </a:bodyPr>
          <a:lstStyle xmlns:a="http://schemas.openxmlformats.org/drawingml/2006/main"/>
          <a:p xmlns:a="http://schemas.openxmlformats.org/drawingml/2006/main">
            <a:pPr algn="ctr" defTabSz="914400">
              <a:lnSpc>
                <a:spcPct val="100000"/>
              </a:lnSpc>
              <a:buNone/>
            </a:pPr>
            <a:r>
              <a:rPr sz="1050" b="1" u="none" strike="noStrike">
                <a:solidFill>
                  <a:srgbClr val="EBF9FF"/>
                </a:solidFill>
                <a:latin typeface="Arial"/>
                <a:ea typeface="Arial"/>
                <a:cs typeface="Arial"/>
              </a:rPr>
              <a:t>Simulation</a:t>
            </a:r>
            <a:endParaRPr sz="1050" b="0" u="none" strike="noStrike">
              <a:solidFill>
                <a:srgbClr val="FFFFFF"/>
              </a:solidFill>
              <a:latin typeface="Arial"/>
              <a:ea typeface="Arial"/>
              <a:cs typeface="Arial"/>
            </a:endParaRPr>
          </a:p>
        </p:txBody>
      </p:sp>
      <p:sp>
        <p:nvSpPr>
          <p:cNvPr id="1247600986" name="Rounded Rectangle 10">
            <a:extLst xmlns:a="http://schemas.openxmlformats.org/drawingml/2006/main">
              <a:ext uri="{FF2B5EF4-FFF2-40B4-BE49-F238E27FC236}">
                <a16:creationId xmlns:a16="http://schemas.microsoft.com/office/drawing/2014/main" id="{307D7C40-798E-417D-90C2-8E66C930D55F}"/>
              </a:ext>
            </a:extLst>
          </p:cNvPr>
          <p:cNvSpPr>
            <a:spLocks xmlns:a="http://schemas.openxmlformats.org/drawingml/2006/main" noGrp="1"/>
          </p:cNvSpPr>
          <p:nvPr/>
        </p:nvSpPr>
        <p:spPr>
          <a:xfrm xmlns:a="http://schemas.openxmlformats.org/drawingml/2006/main">
            <a:off x="2130480" y="5257800"/>
            <a:ext cx="1170000" cy="347040"/>
          </a:xfrm>
          <a:prstGeom xmlns:a="http://schemas.openxmlformats.org/drawingml/2006/main" prst="roundRect">
            <a:avLst>
              <a:gd name="adj" fmla="val 16667"/>
            </a:avLst>
          </a:prstGeom>
          <a:solidFill xmlns:a="http://schemas.openxmlformats.org/drawingml/2006/main">
            <a:srgbClr val="0B304E"/>
          </a:solidFill>
          <a:ln xmlns:a="http://schemas.openxmlformats.org/drawingml/2006/main">
            <a:solidFill>
              <a:srgbClr val="53D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45720" tIns="27360" rIns="45720" bIns="18360" anchor="ctr">
            <a:noAutofit/>
          </a:bodyPr>
          <a:lstStyle xmlns:a="http://schemas.openxmlformats.org/drawingml/2006/main"/>
          <a:p xmlns:a="http://schemas.openxmlformats.org/drawingml/2006/main">
            <a:pPr algn="ctr" defTabSz="914400">
              <a:lnSpc>
                <a:spcPct val="100000"/>
              </a:lnSpc>
              <a:buNone/>
            </a:pPr>
            <a:r>
              <a:rPr sz="1050" b="1" u="none" strike="noStrike">
                <a:solidFill>
                  <a:srgbClr val="EBF9FF"/>
                </a:solidFill>
                <a:latin typeface="Arial"/>
                <a:ea typeface="Arial"/>
                <a:cs typeface="Arial"/>
              </a:rPr>
              <a:t>RGB + Depth</a:t>
            </a:r>
            <a:endParaRPr sz="1050" b="0" u="none" strike="noStrike">
              <a:solidFill>
                <a:srgbClr val="FFFFFF"/>
              </a:solidFill>
              <a:latin typeface="Arial"/>
              <a:ea typeface="Arial"/>
              <a:cs typeface="Arial"/>
            </a:endParaRPr>
          </a:p>
        </p:txBody>
      </p:sp>
      <p:sp>
        <p:nvSpPr>
          <p:cNvPr id="1467454524" name="Rounded Rectangle 11">
            <a:extLst xmlns:a="http://schemas.openxmlformats.org/drawingml/2006/main">
              <a:ext uri="{FF2B5EF4-FFF2-40B4-BE49-F238E27FC236}">
                <a16:creationId xmlns:a16="http://schemas.microsoft.com/office/drawing/2014/main" id="{B09B6BED-8C33-4814-9D6B-CA43C14F329C}"/>
              </a:ext>
            </a:extLst>
          </p:cNvPr>
          <p:cNvSpPr>
            <a:spLocks xmlns:a="http://schemas.openxmlformats.org/drawingml/2006/main" noGrp="1"/>
          </p:cNvSpPr>
          <p:nvPr/>
        </p:nvSpPr>
        <p:spPr>
          <a:xfrm xmlns:a="http://schemas.openxmlformats.org/drawingml/2006/main">
            <a:off x="3547800" y="5257800"/>
            <a:ext cx="1170000" cy="347040"/>
          </a:xfrm>
          <a:prstGeom xmlns:a="http://schemas.openxmlformats.org/drawingml/2006/main" prst="roundRect">
            <a:avLst>
              <a:gd name="adj" fmla="val 16667"/>
            </a:avLst>
          </a:prstGeom>
          <a:solidFill xmlns:a="http://schemas.openxmlformats.org/drawingml/2006/main">
            <a:srgbClr val="0B304E"/>
          </a:solidFill>
          <a:ln xmlns:a="http://schemas.openxmlformats.org/drawingml/2006/main">
            <a:solidFill>
              <a:srgbClr val="53D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45720" tIns="27360" rIns="45720" bIns="18360" anchor="ctr">
            <a:noAutofit/>
          </a:bodyPr>
          <a:lstStyle xmlns:a="http://schemas.openxmlformats.org/drawingml/2006/main"/>
          <a:p xmlns:a="http://schemas.openxmlformats.org/drawingml/2006/main">
            <a:pPr algn="ctr" defTabSz="914400">
              <a:lnSpc>
                <a:spcPct val="100000"/>
              </a:lnSpc>
              <a:buNone/>
            </a:pPr>
            <a:r>
              <a:rPr sz="1050" b="1" u="none" strike="noStrike">
                <a:solidFill>
                  <a:srgbClr val="EBF9FF"/>
                </a:solidFill>
                <a:latin typeface="Arial"/>
                <a:ea typeface="Arial"/>
                <a:cs typeface="Arial"/>
              </a:rPr>
              <a:t>YOLO11 Nano</a:t>
            </a:r>
            <a:endParaRPr sz="1050" b="0" u="none" strike="noStrike">
              <a:solidFill>
                <a:srgbClr val="FFFFFF"/>
              </a:solidFill>
              <a:latin typeface="Arial"/>
              <a:ea typeface="Arial"/>
              <a:cs typeface="Arial"/>
            </a:endParaRPr>
          </a:p>
        </p:txBody>
      </p:sp>
      <p:sp>
        <p:nvSpPr>
          <p:cNvPr id="818996990" name="TextBox 12">
            <a:extLst xmlns:a="http://schemas.openxmlformats.org/drawingml/2006/main">
              <a:ext uri="{FF2B5EF4-FFF2-40B4-BE49-F238E27FC236}">
                <a16:creationId xmlns:a16="http://schemas.microsoft.com/office/drawing/2014/main" id="{87FB2F4B-159A-40DB-AEA7-C0C12F51B458}"/>
              </a:ext>
            </a:extLst>
          </p:cNvPr>
          <p:cNvSpPr>
            <a:spLocks xmlns:a="http://schemas.openxmlformats.org/drawingml/2006/main" noGrp="1"/>
          </p:cNvSpPr>
          <p:nvPr/>
        </p:nvSpPr>
        <p:spPr>
          <a:xfrm xmlns:a="http://schemas.openxmlformats.org/drawingml/2006/main">
            <a:off x="790575" y="5991225"/>
            <a:ext cx="3787775" cy="457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srgbClr val="000000"/>
          </a:lnRef>
          <a:fillRef xmlns:a="http://schemas.openxmlformats.org/drawingml/2006/main" idx="0">
            <a:srgbClr val="000000"/>
          </a:fillRef>
          <a:effectRef xmlns:a="http://schemas.openxmlformats.org/drawingml/2006/main" idx="0">
            <a:srgbClr val="000000"/>
          </a:effectRef>
          <a:fontRef xmlns:a="http://schemas.openxmlformats.org/drawingml/2006/main" idx="minor"/>
        </p:style>
        <p:txBody>
          <a:bodyPr xmlns:a="http://schemas.openxmlformats.org/drawingml/2006/main" wrap="none" lIns="0" tIns="0" rIns="0" bIns="0" anchor="t">
            <a:spAutoFit/>
          </a:bodyPr>
          <a:lstStyle xmlns:a="http://schemas.openxmlformats.org/drawingml/2006/main">
            <a:defPPr>
              <a:defRPr sz="1500">
                <a:solidFill>
                  <a:srgbClr val="A5B9CA"/>
                </a:solidFill>
              </a:defRPr>
            </a:defPPr>
          </a:lstStyle>
          <a:p xmlns:a="http://schemas.openxmlformats.org/drawingml/2006/main">
            <a:pPr defTabSz="914400">
              <a:lnSpc>
                <a:spcPct val="100000"/>
              </a:lnSpc>
              <a:buNone/>
              <a:defRPr sz="1500">
                <a:solidFill>
                  <a:srgbClr val="A5B9CA"/>
                </a:solidFill>
              </a:defRPr>
            </a:pPr>
            <a:r>
              <a:rPr sz="1500" b="0" u="none" strike="noStrike">
                <a:solidFill>
                  <a:srgbClr val="A5B9CA"/>
                </a:solidFill>
                <a:latin typeface="Arial"/>
                <a:ea typeface="Arial"/>
                <a:cs typeface="Arial"/>
              </a:rPr>
              <a:t>Previously: fixed pickup coordinates</a:t>
            </a:r>
            <a:endParaRPr sz="1150" b="0" u="none" strike="noStrike">
              <a:solidFill>
                <a:srgbClr val="000000"/>
              </a:solidFill>
              <a:latin typeface="Arial"/>
              <a:ea typeface="Arial"/>
              <a:cs typeface="Arial"/>
            </a:endParaRPr>
          </a:p>
          <a:p xmlns:a="http://schemas.openxmlformats.org/drawingml/2006/main">
            <a:pPr defTabSz="914400">
              <a:lnSpc>
                <a:spcPct val="100000"/>
              </a:lnSpc>
              <a:buNone/>
              <a:defRPr sz="1500">
                <a:solidFill>
                  <a:srgbClr val="A5B9CA"/>
                </a:solidFill>
              </a:defRPr>
            </a:pPr>
            <a:r>
              <a:rPr sz="1500" b="0" u="none" strike="noStrike">
                <a:solidFill>
                  <a:srgbClr val="A5B9CA"/>
                </a:solidFill>
                <a:latin typeface="Arial"/>
                <a:ea typeface="Arial"/>
                <a:cs typeface="Arial"/>
              </a:rPr>
              <a:t>Now: YOLO + RGB-depth package detection</a:t>
            </a:r>
            <a:endParaRPr sz="1150" b="0" u="none" strike="noStrike">
              <a:solidFill>
                <a:srgbClr val="000000"/>
              </a:solidFill>
              <a:latin typeface="Arial"/>
              <a:ea typeface="Arial"/>
              <a:cs typeface="Arial"/>
            </a:endParaRPr>
          </a:p>
        </p:txBody>
      </p:sp>
    </p:spTree>
    <p:extLst>
      <p:ext uri="{BB962C8B-B14F-4D97-AF65-F5344CB8AC3E}">
        <p14:creationId xmlns:p14="http://schemas.microsoft.com/office/powerpoint/2010/main" val="1425700407"/>
      </p:ext>
    </p:extLst>
  </p:cSld>
</p:sld>
</file>

<file path=ppt/slides/slide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E96D229F-44A0-4358-BBBA-9737A273B592}"/>
              </a:ext>
            </a:extLst>
          </p:cNvPr>
          <p:cNvSpPr>
            <a:spLocks xmlns:a="http://schemas.openxmlformats.org/drawingml/2006/main" noGrp="1"/>
          </p:cNvSpPr>
          <p:nvPr/>
        </p:nvSpPr>
        <p:spPr>
          <a:xfrm xmlns:a="http://schemas.openxmlformats.org/drawingml/2006/main">
            <a:off x="571500" y="4000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23043"/>
                </a:solidFill>
              </a:defRPr>
            </a:defPPr>
          </a:lstStyle>
          <a:p xmlns:a="http://schemas.openxmlformats.org/drawingml/2006/main">
            <a:pPr>
              <a:defRPr sz="3000" b="1">
                <a:solidFill>
                  <a:srgbClr val="123043"/>
                </a:solidFill>
              </a:defRPr>
            </a:pPr>
            <a:r>
              <a:rPr sz="3000" b="1">
                <a:solidFill>
                  <a:srgbClr val="123043"/>
                </a:solidFill>
              </a:rPr>
              <a:t>Dataset and model training</a:t>
            </a:r>
          </a:p>
        </p:txBody>
      </p:sp>
      <p:sp>
        <p:nvSpPr>
          <p:cNvPr id="2" name="subtitle">
            <a:extLst xmlns:a="http://schemas.openxmlformats.org/drawingml/2006/main">
              <a:ext uri="{FF2B5EF4-FFF2-40B4-BE49-F238E27FC236}">
                <a16:creationId xmlns:a16="http://schemas.microsoft.com/office/drawing/2014/main" id="{87FFD4BB-B9D4-4B4C-BF87-83884E66E1ED}"/>
              </a:ext>
            </a:extLst>
          </p:cNvPr>
          <p:cNvSpPr>
            <a:spLocks xmlns:a="http://schemas.openxmlformats.org/drawingml/2006/main" noGrp="1"/>
          </p:cNvSpPr>
          <p:nvPr/>
        </p:nvSpPr>
        <p:spPr>
          <a:xfrm xmlns:a="http://schemas.openxmlformats.org/drawingml/2006/main">
            <a:off x="590550" y="10477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7082"/>
                </a:solidFill>
              </a:defRPr>
            </a:defPPr>
          </a:lstStyle>
          <a:p xmlns:a="http://schemas.openxmlformats.org/drawingml/2006/main">
            <a:pPr>
              <a:defRPr sz="1725" b="0">
                <a:solidFill>
                  <a:srgbClr val="587082"/>
                </a:solidFill>
              </a:defRPr>
            </a:pPr>
            <a:r>
              <a:rPr sz="1725" b="0">
                <a:solidFill>
                  <a:srgbClr val="587082"/>
                </a:solidFill>
              </a:rPr>
              <a:t>200 images captured and automatically labeled in Unity</a:t>
            </a:r>
          </a:p>
        </p:txBody>
      </p:sp>
      <p:sp>
        <p:nvSpPr>
          <p:cNvPr id="3" name="footer">
            <a:extLst xmlns:a="http://schemas.openxmlformats.org/drawingml/2006/main">
              <a:ext uri="{FF2B5EF4-FFF2-40B4-BE49-F238E27FC236}">
                <a16:creationId xmlns:a16="http://schemas.microsoft.com/office/drawing/2014/main" id="{39187805-3243-423C-BF18-80C778670D6B}"/>
              </a:ext>
            </a:extLst>
          </p:cNvPr>
          <p:cNvSpPr>
            <a:spLocks xmlns:a="http://schemas.openxmlformats.org/drawingml/2006/main" noGrp="1"/>
          </p:cNvSpPr>
          <p:nvPr/>
        </p:nvSpPr>
        <p:spPr>
          <a:xfrm xmlns:a="http://schemas.openxmlformats.org/drawingml/2006/main">
            <a:off x="571500" y="65246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UC9 Drone Sorting / Weekly Report / 14 October 2026</a:t>
            </a:r>
          </a:p>
        </p:txBody>
      </p:sp>
      <p:sp>
        <p:nvSpPr>
          <p:cNvPr id="4" name="page-number">
            <a:extLst xmlns:a="http://schemas.openxmlformats.org/drawingml/2006/main">
              <a:ext uri="{FF2B5EF4-FFF2-40B4-BE49-F238E27FC236}">
                <a16:creationId xmlns:a16="http://schemas.microsoft.com/office/drawing/2014/main" id="{BCAC006C-C68A-4F80-A4B3-AA1E0A245D3D}"/>
              </a:ext>
            </a:extLst>
          </p:cNvPr>
          <p:cNvSpPr>
            <a:spLocks xmlns:a="http://schemas.openxmlformats.org/drawingml/2006/main" noGrp="1"/>
          </p:cNvSpPr>
          <p:nvPr/>
        </p:nvSpPr>
        <p:spPr>
          <a:xfrm xmlns:a="http://schemas.openxmlformats.org/drawingml/2006/main">
            <a:off x="11049000" y="65246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2/5</a:t>
            </a:r>
          </a:p>
        </p:txBody>
      </p:sp>
      <p:sp>
        <p:nvSpPr>
          <p:cNvPr id="5" name="model">
            <a:extLst xmlns:a="http://schemas.openxmlformats.org/drawingml/2006/main">
              <a:ext uri="{FF2B5EF4-FFF2-40B4-BE49-F238E27FC236}">
                <a16:creationId xmlns:a16="http://schemas.microsoft.com/office/drawing/2014/main" id="{4F5EB361-EFD8-431D-9DEE-6F055A16DECA}"/>
              </a:ext>
            </a:extLst>
          </p:cNvPr>
          <p:cNvSpPr>
            <a:spLocks xmlns:a="http://schemas.openxmlformats.org/drawingml/2006/main" noGrp="1"/>
          </p:cNvSpPr>
          <p:nvPr/>
        </p:nvSpPr>
        <p:spPr>
          <a:xfrm xmlns:a="http://schemas.openxmlformats.org/drawingml/2006/main">
            <a:off x="571500" y="162877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08BC4"/>
                </a:solidFill>
              </a:defRPr>
            </a:defPPr>
          </a:lstStyle>
          <a:p xmlns:a="http://schemas.openxmlformats.org/drawingml/2006/main">
            <a:pPr>
              <a:defRPr sz="2550" b="1">
                <a:solidFill>
                  <a:srgbClr val="208BC4"/>
                </a:solidFill>
              </a:defRPr>
            </a:pPr>
            <a:r>
              <a:rPr sz="2550" b="1">
                <a:solidFill>
                  <a:srgbClr val="208BC4"/>
                </a:solidFill>
              </a:rPr>
              <a:t>YOLO11 Nano</a:t>
            </a:r>
          </a:p>
        </p:txBody>
      </p:sp>
      <p:sp>
        <p:nvSpPr>
          <p:cNvPr id="6" name="fine-tuning">
            <a:extLst xmlns:a="http://schemas.openxmlformats.org/drawingml/2006/main">
              <a:ext uri="{FF2B5EF4-FFF2-40B4-BE49-F238E27FC236}">
                <a16:creationId xmlns:a16="http://schemas.microsoft.com/office/drawing/2014/main" id="{DFBC174E-2AB3-40ED-BBC7-DDF23989AD57}"/>
              </a:ext>
            </a:extLst>
          </p:cNvPr>
          <p:cNvSpPr>
            <a:spLocks xmlns:a="http://schemas.openxmlformats.org/drawingml/2006/main" noGrp="1"/>
          </p:cNvSpPr>
          <p:nvPr/>
        </p:nvSpPr>
        <p:spPr>
          <a:xfrm xmlns:a="http://schemas.openxmlformats.org/drawingml/2006/main">
            <a:off x="5524500" y="169545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23043"/>
                </a:solidFill>
              </a:defRPr>
            </a:defPPr>
          </a:lstStyle>
          <a:p xmlns:a="http://schemas.openxmlformats.org/drawingml/2006/main">
            <a:pPr>
              <a:defRPr sz="2025" b="0">
                <a:solidFill>
                  <a:srgbClr val="123043"/>
                </a:solidFill>
              </a:defRPr>
            </a:pPr>
            <a:r>
              <a:rPr sz="2025" b="0">
                <a:solidFill>
                  <a:srgbClr val="123043"/>
                </a:solidFill>
              </a:rPr>
              <a:t>Fine-tuned for one class: package</a:t>
            </a:r>
          </a:p>
        </p:txBody>
      </p:sp>
      <p:pic>
        <p:nvPicPr>
          <p:cNvPr id="7" name="">
            <a:extLst xmlns:a="http://schemas.openxmlformats.org/drawingml/2006/main">
              <a:ext uri="{FF2B5EF4-FFF2-40B4-BE49-F238E27FC236}">
                <a16:creationId xmlns:a16="http://schemas.microsoft.com/office/drawing/2014/main" id="{2A8B72F9-57E9-4B8D-97F8-FD31B7DA3955}"/>
              </a:ext>
            </a:extLst>
          </p:cNvPr>
          <p:cNvPicPr>
            <a:picLocks xmlns:a="http://schemas.openxmlformats.org/drawingml/2006/main" noChangeAspect="1"/>
          </p:cNvPicPr>
          <p:nvPr/>
        </p:nvPicPr>
        <p:blipFill>
          <a:blip xmlns:r="http://schemas.openxmlformats.org/officeDocument/2006/relationships" xmlns:a="http://schemas.openxmlformats.org/drawingml/2006/main" r:embed="Re1f00e55cc324b1f"/>
          <a:stretch xmlns:a="http://schemas.openxmlformats.org/drawingml/2006/main"/>
        </p:blipFill>
        <p:spPr>
          <a:xfrm xmlns:a="http://schemas.openxmlformats.org/drawingml/2006/main">
            <a:off x="571500" y="2276475"/>
            <a:ext cx="3543300" cy="2657475"/>
          </a:xfrm>
          <a:prstGeom xmlns:a="http://schemas.openxmlformats.org/drawingml/2006/main" prst="rect">
            <a:avLst/>
          </a:prstGeom>
        </p:spPr>
      </p:pic>
      <p:sp>
        <p:nvSpPr>
          <p:cNvPr id="8" name="sample-label-0">
            <a:extLst xmlns:a="http://schemas.openxmlformats.org/drawingml/2006/main">
              <a:ext uri="{FF2B5EF4-FFF2-40B4-BE49-F238E27FC236}">
                <a16:creationId xmlns:a16="http://schemas.microsoft.com/office/drawing/2014/main" id="{3EA0F9F5-9962-4D47-A15D-A10D5012EE61}"/>
              </a:ext>
            </a:extLst>
          </p:cNvPr>
          <p:cNvSpPr>
            <a:spLocks xmlns:a="http://schemas.openxmlformats.org/drawingml/2006/main" noGrp="1"/>
          </p:cNvSpPr>
          <p:nvPr/>
        </p:nvSpPr>
        <p:spPr>
          <a:xfrm xmlns:a="http://schemas.openxmlformats.org/drawingml/2006/main">
            <a:off x="571500" y="5095875"/>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23043"/>
                </a:solidFill>
              </a:defRPr>
            </a:defPPr>
          </a:lstStyle>
          <a:p xmlns:a="http://schemas.openxmlformats.org/drawingml/2006/main">
            <a:pPr>
              <a:defRPr sz="1800" b="1">
                <a:solidFill>
                  <a:srgbClr val="123043"/>
                </a:solidFill>
              </a:defRPr>
            </a:pPr>
            <a:r>
              <a:rPr sz="1800" b="1">
                <a:solidFill>
                  <a:srgbClr val="123043"/>
                </a:solidFill>
              </a:rPr>
              <a:t>Observation view</a:t>
            </a:r>
          </a:p>
        </p:txBody>
      </p:sp>
      <p:pic>
        <p:nvPicPr>
          <p:cNvPr id="9" name="">
            <a:extLst xmlns:a="http://schemas.openxmlformats.org/drawingml/2006/main">
              <a:ext uri="{FF2B5EF4-FFF2-40B4-BE49-F238E27FC236}">
                <a16:creationId xmlns:a16="http://schemas.microsoft.com/office/drawing/2014/main" id="{33EBF977-C953-4EFD-9648-836FCEF57430}"/>
              </a:ext>
            </a:extLst>
          </p:cNvPr>
          <p:cNvPicPr>
            <a:picLocks xmlns:a="http://schemas.openxmlformats.org/drawingml/2006/main" noChangeAspect="1"/>
          </p:cNvPicPr>
          <p:nvPr/>
        </p:nvPicPr>
        <p:blipFill>
          <a:blip xmlns:r="http://schemas.openxmlformats.org/officeDocument/2006/relationships" xmlns:a="http://schemas.openxmlformats.org/drawingml/2006/main" r:embed="R15ccc03801ba4773"/>
          <a:stretch xmlns:a="http://schemas.openxmlformats.org/drawingml/2006/main"/>
        </p:blipFill>
        <p:spPr>
          <a:xfrm xmlns:a="http://schemas.openxmlformats.org/drawingml/2006/main">
            <a:off x="4324350" y="2276475"/>
            <a:ext cx="3543300" cy="2657475"/>
          </a:xfrm>
          <a:prstGeom xmlns:a="http://schemas.openxmlformats.org/drawingml/2006/main" prst="rect">
            <a:avLst/>
          </a:prstGeom>
        </p:spPr>
      </p:pic>
      <p:sp>
        <p:nvSpPr>
          <p:cNvPr id="10" name="sample-label-1">
            <a:extLst xmlns:a="http://schemas.openxmlformats.org/drawingml/2006/main">
              <a:ext uri="{FF2B5EF4-FFF2-40B4-BE49-F238E27FC236}">
                <a16:creationId xmlns:a16="http://schemas.microsoft.com/office/drawing/2014/main" id="{054DBE1C-C690-4DBD-8070-70C6EF9166BE}"/>
              </a:ext>
            </a:extLst>
          </p:cNvPr>
          <p:cNvSpPr>
            <a:spLocks xmlns:a="http://schemas.openxmlformats.org/drawingml/2006/main" noGrp="1"/>
          </p:cNvSpPr>
          <p:nvPr/>
        </p:nvSpPr>
        <p:spPr>
          <a:xfrm xmlns:a="http://schemas.openxmlformats.org/drawingml/2006/main">
            <a:off x="4324350" y="5095875"/>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23043"/>
                </a:solidFill>
              </a:defRPr>
            </a:defPPr>
          </a:lstStyle>
          <a:p xmlns:a="http://schemas.openxmlformats.org/drawingml/2006/main">
            <a:pPr>
              <a:defRPr sz="1800" b="1">
                <a:solidFill>
                  <a:srgbClr val="123043"/>
                </a:solidFill>
              </a:defRPr>
            </a:pPr>
            <a:r>
              <a:rPr sz="1800" b="1">
                <a:solidFill>
                  <a:srgbClr val="123043"/>
                </a:solidFill>
              </a:rPr>
              <a:t>Closer pickup view</a:t>
            </a:r>
          </a:p>
        </p:txBody>
      </p:sp>
      <p:pic>
        <p:nvPicPr>
          <p:cNvPr id="11" name="">
            <a:extLst xmlns:a="http://schemas.openxmlformats.org/drawingml/2006/main">
              <a:ext uri="{FF2B5EF4-FFF2-40B4-BE49-F238E27FC236}">
                <a16:creationId xmlns:a16="http://schemas.microsoft.com/office/drawing/2014/main" id="{B29117E2-0467-40DD-8856-4D9EFC77FC59}"/>
              </a:ext>
            </a:extLst>
          </p:cNvPr>
          <p:cNvPicPr>
            <a:picLocks xmlns:a="http://schemas.openxmlformats.org/drawingml/2006/main" noChangeAspect="1"/>
          </p:cNvPicPr>
          <p:nvPr/>
        </p:nvPicPr>
        <p:blipFill>
          <a:blip xmlns:r="http://schemas.openxmlformats.org/officeDocument/2006/relationships" xmlns:a="http://schemas.openxmlformats.org/drawingml/2006/main" r:embed="Rac6152e448e449b0"/>
          <a:stretch xmlns:a="http://schemas.openxmlformats.org/drawingml/2006/main"/>
        </p:blipFill>
        <p:spPr>
          <a:xfrm xmlns:a="http://schemas.openxmlformats.org/drawingml/2006/main">
            <a:off x="8077200" y="2276475"/>
            <a:ext cx="3543300" cy="2657475"/>
          </a:xfrm>
          <a:prstGeom xmlns:a="http://schemas.openxmlformats.org/drawingml/2006/main" prst="rect">
            <a:avLst/>
          </a:prstGeom>
        </p:spPr>
      </p:pic>
      <p:sp>
        <p:nvSpPr>
          <p:cNvPr id="12" name="sample-label-2">
            <a:extLst xmlns:a="http://schemas.openxmlformats.org/drawingml/2006/main">
              <a:ext uri="{FF2B5EF4-FFF2-40B4-BE49-F238E27FC236}">
                <a16:creationId xmlns:a16="http://schemas.microsoft.com/office/drawing/2014/main" id="{5B227958-4889-4D45-B3C2-6FE6E09B61E0}"/>
              </a:ext>
            </a:extLst>
          </p:cNvPr>
          <p:cNvSpPr>
            <a:spLocks xmlns:a="http://schemas.openxmlformats.org/drawingml/2006/main" noGrp="1"/>
          </p:cNvSpPr>
          <p:nvPr/>
        </p:nvSpPr>
        <p:spPr>
          <a:xfrm xmlns:a="http://schemas.openxmlformats.org/drawingml/2006/main">
            <a:off x="8077200" y="5095875"/>
            <a:ext cx="3543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23043"/>
                </a:solidFill>
              </a:defRPr>
            </a:defPPr>
          </a:lstStyle>
          <a:p xmlns:a="http://schemas.openxmlformats.org/drawingml/2006/main">
            <a:pPr>
              <a:defRPr sz="1800" b="1">
                <a:solidFill>
                  <a:srgbClr val="123043"/>
                </a:solidFill>
              </a:defRPr>
            </a:pPr>
            <a:r>
              <a:rPr sz="1800" b="1">
                <a:solidFill>
                  <a:srgbClr val="123043"/>
                </a:solidFill>
              </a:rPr>
              <a:t>Partial occlusion</a:t>
            </a:r>
          </a:p>
        </p:txBody>
      </p:sp>
      <p:sp>
        <p:nvSpPr>
          <p:cNvPr id="13" name="training-summary">
            <a:extLst xmlns:a="http://schemas.openxmlformats.org/drawingml/2006/main">
              <a:ext uri="{FF2B5EF4-FFF2-40B4-BE49-F238E27FC236}">
                <a16:creationId xmlns:a16="http://schemas.microsoft.com/office/drawing/2014/main" id="{B88B2098-6553-4333-A385-8E0ACBBEB564}"/>
              </a:ext>
            </a:extLst>
          </p:cNvPr>
          <p:cNvSpPr>
            <a:spLocks xmlns:a="http://schemas.openxmlformats.org/drawingml/2006/main" noGrp="1"/>
          </p:cNvSpPr>
          <p:nvPr/>
        </p:nvSpPr>
        <p:spPr>
          <a:xfrm xmlns:a="http://schemas.openxmlformats.org/drawingml/2006/main">
            <a:off x="571500" y="57245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7082"/>
                </a:solidFill>
              </a:defRPr>
            </a:defPPr>
          </a:lstStyle>
          <a:p xmlns:a="http://schemas.openxmlformats.org/drawingml/2006/main">
            <a:pPr>
              <a:defRPr sz="1725" b="0">
                <a:solidFill>
                  <a:srgbClr val="587082"/>
                </a:solidFill>
              </a:defRPr>
            </a:pPr>
            <a:r>
              <a:rPr sz="1725" b="0">
                <a:solidFill>
                  <a:srgbClr val="587082"/>
                </a:solidFill>
              </a:rPr>
              <a:t>Varied package placements and rotations. Colored boxes are training labels.</a:t>
            </a:r>
          </a:p>
        </p:txBody>
      </p:sp>
    </p:spTree>
    <p:extLst>
      <p:ext uri="{BB962C8B-B14F-4D97-AF65-F5344CB8AC3E}">
        <p14:creationId xmlns:p14="http://schemas.microsoft.com/office/powerpoint/2010/main" val="24683705"/>
      </p:ext>
    </p:extLst>
  </p:cSld>
</p:sld>
</file>

<file path=ppt/slides/slide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0788D751-5926-4A2E-8640-48A79145F2AD}"/>
              </a:ext>
            </a:extLst>
          </p:cNvPr>
          <p:cNvSpPr>
            <a:spLocks xmlns:a="http://schemas.openxmlformats.org/drawingml/2006/main" noGrp="1"/>
          </p:cNvSpPr>
          <p:nvPr/>
        </p:nvSpPr>
        <p:spPr>
          <a:xfrm xmlns:a="http://schemas.openxmlformats.org/drawingml/2006/main">
            <a:off x="571500" y="4000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23043"/>
                </a:solidFill>
              </a:defRPr>
            </a:defPPr>
          </a:lstStyle>
          <a:p xmlns:a="http://schemas.openxmlformats.org/drawingml/2006/main">
            <a:pPr>
              <a:defRPr sz="3000" b="1">
                <a:solidFill>
                  <a:srgbClr val="123043"/>
                </a:solidFill>
              </a:defRPr>
            </a:pPr>
            <a:r>
              <a:rPr sz="3000" b="1">
                <a:solidFill>
                  <a:srgbClr val="123043"/>
                </a:solidFill>
              </a:rPr>
              <a:t>How the drone locates a package</a:t>
            </a:r>
          </a:p>
        </p:txBody>
      </p:sp>
      <p:sp>
        <p:nvSpPr>
          <p:cNvPr id="2" name="subtitle">
            <a:extLst xmlns:a="http://schemas.openxmlformats.org/drawingml/2006/main">
              <a:ext uri="{FF2B5EF4-FFF2-40B4-BE49-F238E27FC236}">
                <a16:creationId xmlns:a16="http://schemas.microsoft.com/office/drawing/2014/main" id="{06ABFCA1-905B-4454-9B7D-8C575964FFED}"/>
              </a:ext>
            </a:extLst>
          </p:cNvPr>
          <p:cNvSpPr>
            <a:spLocks xmlns:a="http://schemas.openxmlformats.org/drawingml/2006/main" noGrp="1"/>
          </p:cNvSpPr>
          <p:nvPr/>
        </p:nvSpPr>
        <p:spPr>
          <a:xfrm xmlns:a="http://schemas.openxmlformats.org/drawingml/2006/main">
            <a:off x="590550" y="10477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7082"/>
                </a:solidFill>
              </a:defRPr>
            </a:defPPr>
          </a:lstStyle>
          <a:p xmlns:a="http://schemas.openxmlformats.org/drawingml/2006/main">
            <a:pPr>
              <a:defRPr sz="1725" b="0">
                <a:solidFill>
                  <a:srgbClr val="587082"/>
                </a:solidFill>
              </a:defRPr>
            </a:pPr>
            <a:r>
              <a:rPr sz="1725" b="0">
                <a:solidFill>
                  <a:srgbClr val="587082"/>
                </a:solidFill>
              </a:rPr>
              <a:t>Color shows the package. Depth provides distance.</a:t>
            </a:r>
          </a:p>
        </p:txBody>
      </p:sp>
      <p:sp>
        <p:nvSpPr>
          <p:cNvPr id="3" name="footer">
            <a:extLst xmlns:a="http://schemas.openxmlformats.org/drawingml/2006/main">
              <a:ext uri="{FF2B5EF4-FFF2-40B4-BE49-F238E27FC236}">
                <a16:creationId xmlns:a16="http://schemas.microsoft.com/office/drawing/2014/main" id="{3D1DD8F6-0933-4B3F-8A89-16FE63AC922D}"/>
              </a:ext>
            </a:extLst>
          </p:cNvPr>
          <p:cNvSpPr>
            <a:spLocks xmlns:a="http://schemas.openxmlformats.org/drawingml/2006/main" noGrp="1"/>
          </p:cNvSpPr>
          <p:nvPr/>
        </p:nvSpPr>
        <p:spPr>
          <a:xfrm xmlns:a="http://schemas.openxmlformats.org/drawingml/2006/main">
            <a:off x="571500" y="65246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UC9 Drone Sorting / Weekly Report / 14 October 2026</a:t>
            </a:r>
          </a:p>
        </p:txBody>
      </p:sp>
      <p:sp>
        <p:nvSpPr>
          <p:cNvPr id="4" name="page-number">
            <a:extLst xmlns:a="http://schemas.openxmlformats.org/drawingml/2006/main">
              <a:ext uri="{FF2B5EF4-FFF2-40B4-BE49-F238E27FC236}">
                <a16:creationId xmlns:a16="http://schemas.microsoft.com/office/drawing/2014/main" id="{72F36C61-92FE-4B0C-BC69-9E5F9BE9FAA7}"/>
              </a:ext>
            </a:extLst>
          </p:cNvPr>
          <p:cNvSpPr>
            <a:spLocks xmlns:a="http://schemas.openxmlformats.org/drawingml/2006/main" noGrp="1"/>
          </p:cNvSpPr>
          <p:nvPr/>
        </p:nvSpPr>
        <p:spPr>
          <a:xfrm xmlns:a="http://schemas.openxmlformats.org/drawingml/2006/main">
            <a:off x="11049000" y="65246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3/5</a:t>
            </a:r>
          </a:p>
        </p:txBody>
      </p:sp>
      <p:sp>
        <p:nvSpPr>
          <p:cNvPr id="5" name="rgb-heading">
            <a:extLst xmlns:a="http://schemas.openxmlformats.org/drawingml/2006/main">
              <a:ext uri="{FF2B5EF4-FFF2-40B4-BE49-F238E27FC236}">
                <a16:creationId xmlns:a16="http://schemas.microsoft.com/office/drawing/2014/main" id="{032D1505-87F2-4058-8F27-428DBE40728E}"/>
              </a:ext>
            </a:extLst>
          </p:cNvPr>
          <p:cNvSpPr>
            <a:spLocks xmlns:a="http://schemas.openxmlformats.org/drawingml/2006/main" noGrp="1"/>
          </p:cNvSpPr>
          <p:nvPr/>
        </p:nvSpPr>
        <p:spPr>
          <a:xfrm xmlns:a="http://schemas.openxmlformats.org/drawingml/2006/main">
            <a:off x="571500" y="1695450"/>
            <a:ext cx="396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08BC4"/>
                </a:solidFill>
              </a:defRPr>
            </a:defPPr>
          </a:lstStyle>
          <a:p xmlns:a="http://schemas.openxmlformats.org/drawingml/2006/main">
            <a:pPr>
              <a:defRPr sz="2175" b="1">
                <a:solidFill>
                  <a:srgbClr val="208BC4"/>
                </a:solidFill>
              </a:defRPr>
            </a:pPr>
            <a:r>
              <a:rPr sz="2175" b="1">
                <a:solidFill>
                  <a:srgbClr val="208BC4"/>
                </a:solidFill>
              </a:rPr>
              <a:t>RGB + YOLO</a:t>
            </a:r>
          </a:p>
        </p:txBody>
      </p:sp>
      <p:sp>
        <p:nvSpPr>
          <p:cNvPr id="6" name="depth-heading">
            <a:extLst xmlns:a="http://schemas.openxmlformats.org/drawingml/2006/main">
              <a:ext uri="{FF2B5EF4-FFF2-40B4-BE49-F238E27FC236}">
                <a16:creationId xmlns:a16="http://schemas.microsoft.com/office/drawing/2014/main" id="{230234EE-2789-4C55-9E95-0AFCE0F6EBBF}"/>
              </a:ext>
            </a:extLst>
          </p:cNvPr>
          <p:cNvSpPr>
            <a:spLocks xmlns:a="http://schemas.openxmlformats.org/drawingml/2006/main" noGrp="1"/>
          </p:cNvSpPr>
          <p:nvPr/>
        </p:nvSpPr>
        <p:spPr>
          <a:xfrm xmlns:a="http://schemas.openxmlformats.org/drawingml/2006/main">
            <a:off x="4791075" y="1695450"/>
            <a:ext cx="396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08BC4"/>
                </a:solidFill>
              </a:defRPr>
            </a:defPPr>
          </a:lstStyle>
          <a:p xmlns:a="http://schemas.openxmlformats.org/drawingml/2006/main">
            <a:pPr>
              <a:defRPr sz="2175" b="1">
                <a:solidFill>
                  <a:srgbClr val="208BC4"/>
                </a:solidFill>
              </a:defRPr>
            </a:pPr>
            <a:r>
              <a:rPr sz="2175" b="1">
                <a:solidFill>
                  <a:srgbClr val="208BC4"/>
                </a:solidFill>
              </a:rPr>
              <a:t>Depth camera</a:t>
            </a:r>
          </a:p>
        </p:txBody>
      </p:sp>
      <p:pic>
        <p:nvPicPr>
          <p:cNvPr id="7" name="">
            <a:extLst xmlns:a="http://schemas.openxmlformats.org/drawingml/2006/main">
              <a:ext uri="{FF2B5EF4-FFF2-40B4-BE49-F238E27FC236}">
                <a16:creationId xmlns:a16="http://schemas.microsoft.com/office/drawing/2014/main" id="{D422F008-953D-4CE0-830A-EDA9AB0C62F8}"/>
              </a:ext>
            </a:extLst>
          </p:cNvPr>
          <p:cNvPicPr>
            <a:picLocks xmlns:a="http://schemas.openxmlformats.org/drawingml/2006/main" noChangeAspect="1"/>
          </p:cNvPicPr>
          <p:nvPr/>
        </p:nvPicPr>
        <p:blipFill>
          <a:blip xmlns:r="http://schemas.openxmlformats.org/officeDocument/2006/relationships" xmlns:a="http://schemas.openxmlformats.org/drawingml/2006/main" r:embed="R3fdfb623eee64953"/>
          <a:stretch xmlns:a="http://schemas.openxmlformats.org/drawingml/2006/main"/>
        </p:blipFill>
        <p:spPr>
          <a:xfrm xmlns:a="http://schemas.openxmlformats.org/drawingml/2006/main">
            <a:off x="571500" y="2209800"/>
            <a:ext cx="3962400" cy="29718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0D95EE7-0EE3-4D83-B816-14CB3790022F}"/>
              </a:ext>
            </a:extLst>
          </p:cNvPr>
          <p:cNvPicPr>
            <a:picLocks xmlns:a="http://schemas.openxmlformats.org/drawingml/2006/main" noChangeAspect="1"/>
          </p:cNvPicPr>
          <p:nvPr/>
        </p:nvPicPr>
        <p:blipFill>
          <a:blip xmlns:r="http://schemas.openxmlformats.org/officeDocument/2006/relationships" xmlns:a="http://schemas.openxmlformats.org/drawingml/2006/main" r:embed="R5e926a37725d4e0f"/>
          <a:stretch xmlns:a="http://schemas.openxmlformats.org/drawingml/2006/main"/>
        </p:blipFill>
        <p:spPr>
          <a:xfrm xmlns:a="http://schemas.openxmlformats.org/drawingml/2006/main">
            <a:off x="4791075" y="2209800"/>
            <a:ext cx="3962400" cy="2971800"/>
          </a:xfrm>
          <a:prstGeom xmlns:a="http://schemas.openxmlformats.org/drawingml/2006/main" prst="rect">
            <a:avLst/>
          </a:prstGeom>
        </p:spPr>
      </p:pic>
      <p:sp>
        <p:nvSpPr>
          <p:cNvPr id="9" name="rgb-caption">
            <a:extLst xmlns:a="http://schemas.openxmlformats.org/drawingml/2006/main">
              <a:ext uri="{FF2B5EF4-FFF2-40B4-BE49-F238E27FC236}">
                <a16:creationId xmlns:a16="http://schemas.microsoft.com/office/drawing/2014/main" id="{DAB3DEF1-D87E-4897-9DA9-7B2F6138BB05}"/>
              </a:ext>
            </a:extLst>
          </p:cNvPr>
          <p:cNvSpPr>
            <a:spLocks xmlns:a="http://schemas.openxmlformats.org/drawingml/2006/main" noGrp="1"/>
          </p:cNvSpPr>
          <p:nvPr/>
        </p:nvSpPr>
        <p:spPr>
          <a:xfrm xmlns:a="http://schemas.openxmlformats.org/drawingml/2006/main">
            <a:off x="571500" y="5372100"/>
            <a:ext cx="396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23043"/>
                </a:solidFill>
              </a:defRPr>
            </a:defPPr>
          </a:lstStyle>
          <a:p xmlns:a="http://schemas.openxmlformats.org/drawingml/2006/main">
            <a:pPr>
              <a:defRPr sz="1725" b="0">
                <a:solidFill>
                  <a:srgbClr val="123043"/>
                </a:solidFill>
              </a:defRPr>
            </a:pPr>
            <a:r>
              <a:rPr sz="1725" b="0">
                <a:solidFill>
                  <a:srgbClr val="123043"/>
                </a:solidFill>
              </a:rPr>
              <a:t>Identifies packages in the image</a:t>
            </a:r>
          </a:p>
        </p:txBody>
      </p:sp>
      <p:sp>
        <p:nvSpPr>
          <p:cNvPr id="10" name="depth-caption">
            <a:extLst xmlns:a="http://schemas.openxmlformats.org/drawingml/2006/main">
              <a:ext uri="{FF2B5EF4-FFF2-40B4-BE49-F238E27FC236}">
                <a16:creationId xmlns:a16="http://schemas.microsoft.com/office/drawing/2014/main" id="{5A30EF32-8435-4BD3-BE44-2D7EA0046258}"/>
              </a:ext>
            </a:extLst>
          </p:cNvPr>
          <p:cNvSpPr>
            <a:spLocks xmlns:a="http://schemas.openxmlformats.org/drawingml/2006/main" noGrp="1"/>
          </p:cNvSpPr>
          <p:nvPr/>
        </p:nvSpPr>
        <p:spPr>
          <a:xfrm xmlns:a="http://schemas.openxmlformats.org/drawingml/2006/main">
            <a:off x="4791075" y="5372100"/>
            <a:ext cx="396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23043"/>
                </a:solidFill>
              </a:defRPr>
            </a:defPPr>
          </a:lstStyle>
          <a:p xmlns:a="http://schemas.openxmlformats.org/drawingml/2006/main">
            <a:pPr>
              <a:defRPr sz="1725" b="0">
                <a:solidFill>
                  <a:srgbClr val="123043"/>
                </a:solidFill>
              </a:defRPr>
            </a:pPr>
            <a:r>
              <a:rPr sz="1725" b="0">
                <a:solidFill>
                  <a:srgbClr val="123043"/>
                </a:solidFill>
              </a:rPr>
              <a:t>Measures distance to surfaces</a:t>
            </a:r>
          </a:p>
        </p:txBody>
      </p:sp>
      <p:sp>
        <p:nvSpPr>
          <p:cNvPr id="11" name="position-heading">
            <a:extLst xmlns:a="http://schemas.openxmlformats.org/drawingml/2006/main">
              <a:ext uri="{FF2B5EF4-FFF2-40B4-BE49-F238E27FC236}">
                <a16:creationId xmlns:a16="http://schemas.microsoft.com/office/drawing/2014/main" id="{9A1FFD5C-AD7F-481F-9674-30F0486DF0C1}"/>
              </a:ext>
            </a:extLst>
          </p:cNvPr>
          <p:cNvSpPr>
            <a:spLocks xmlns:a="http://schemas.openxmlformats.org/drawingml/2006/main" noGrp="1"/>
          </p:cNvSpPr>
          <p:nvPr/>
        </p:nvSpPr>
        <p:spPr>
          <a:xfrm xmlns:a="http://schemas.openxmlformats.org/drawingml/2006/main">
            <a:off x="9115425" y="2486025"/>
            <a:ext cx="2505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23043"/>
                </a:solidFill>
              </a:defRPr>
            </a:defPPr>
          </a:lstStyle>
          <a:p xmlns:a="http://schemas.openxmlformats.org/drawingml/2006/main">
            <a:pPr>
              <a:defRPr sz="2325" b="1">
                <a:solidFill>
                  <a:srgbClr val="123043"/>
                </a:solidFill>
              </a:defRPr>
            </a:pPr>
            <a:r>
              <a:rPr sz="2325" b="1">
                <a:solidFill>
                  <a:srgbClr val="123043"/>
                </a:solidFill>
              </a:rPr>
              <a:t>Pickup position</a:t>
            </a:r>
          </a:p>
        </p:txBody>
      </p:sp>
      <p:sp>
        <p:nvSpPr>
          <p:cNvPr id="12" name="position-copy">
            <a:extLst xmlns:a="http://schemas.openxmlformats.org/drawingml/2006/main">
              <a:ext uri="{FF2B5EF4-FFF2-40B4-BE49-F238E27FC236}">
                <a16:creationId xmlns:a16="http://schemas.microsoft.com/office/drawing/2014/main" id="{95971149-3DDF-441E-BE50-D3A672206FF7}"/>
              </a:ext>
            </a:extLst>
          </p:cNvPr>
          <p:cNvSpPr>
            <a:spLocks xmlns:a="http://schemas.openxmlformats.org/drawingml/2006/main" noGrp="1"/>
          </p:cNvSpPr>
          <p:nvPr/>
        </p:nvSpPr>
        <p:spPr>
          <a:xfrm xmlns:a="http://schemas.openxmlformats.org/drawingml/2006/main">
            <a:off x="9115425" y="3381375"/>
            <a:ext cx="25050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87082"/>
                </a:solidFill>
              </a:defRPr>
            </a:defPPr>
          </a:lstStyle>
          <a:p xmlns:a="http://schemas.openxmlformats.org/drawingml/2006/main">
            <a:pPr>
              <a:defRPr sz="1950" b="0">
                <a:solidFill>
                  <a:srgbClr val="587082"/>
                </a:solidFill>
              </a:defRPr>
            </a:pPr>
            <a:r>
              <a:rPr sz="1950" b="0">
                <a:solidFill>
                  <a:srgbClr val="587082"/>
                </a:solidFill>
              </a:rPr>
              <a:t>The system combines detection and depth to estimate a 3D position.</a:t>
            </a:r>
          </a:p>
        </p:txBody>
      </p:sp>
      <p:sp>
        <p:nvSpPr>
          <p:cNvPr id="13" name="ros-copy">
            <a:extLst xmlns:a="http://schemas.openxmlformats.org/drawingml/2006/main">
              <a:ext uri="{FF2B5EF4-FFF2-40B4-BE49-F238E27FC236}">
                <a16:creationId xmlns:a16="http://schemas.microsoft.com/office/drawing/2014/main" id="{7CE97FCA-FAF3-4973-87B6-94ECE3657B40}"/>
              </a:ext>
            </a:extLst>
          </p:cNvPr>
          <p:cNvSpPr>
            <a:spLocks xmlns:a="http://schemas.openxmlformats.org/drawingml/2006/main" noGrp="1"/>
          </p:cNvSpPr>
          <p:nvPr/>
        </p:nvSpPr>
        <p:spPr>
          <a:xfrm xmlns:a="http://schemas.openxmlformats.org/drawingml/2006/main">
            <a:off x="9115425" y="5019675"/>
            <a:ext cx="2505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3043"/>
                </a:solidFill>
              </a:defRPr>
            </a:defPPr>
          </a:lstStyle>
          <a:p xmlns:a="http://schemas.openxmlformats.org/drawingml/2006/main">
            <a:pPr>
              <a:defRPr sz="1950" b="1">
                <a:solidFill>
                  <a:srgbClr val="123043"/>
                </a:solidFill>
              </a:defRPr>
            </a:pPr>
            <a:r>
              <a:rPr sz="1950" b="1">
                <a:solidFill>
                  <a:srgbClr val="123043"/>
                </a:solidFill>
              </a:rPr>
              <a:t>ROS guides the drone to pick it up.</a:t>
            </a:r>
          </a:p>
        </p:txBody>
      </p:sp>
    </p:spTree>
    <p:extLst>
      <p:ext uri="{BB962C8B-B14F-4D97-AF65-F5344CB8AC3E}">
        <p14:creationId xmlns:p14="http://schemas.microsoft.com/office/powerpoint/2010/main" val="1157063827"/>
      </p:ext>
    </p:extLst>
  </p:cSld>
</p:sld>
</file>

<file path=ppt/slides/slide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22151269-B1EF-4AB9-8F4D-E467165B259C}"/>
              </a:ext>
            </a:extLst>
          </p:cNvPr>
          <p:cNvSpPr>
            <a:spLocks xmlns:a="http://schemas.openxmlformats.org/drawingml/2006/main" noGrp="1"/>
          </p:cNvSpPr>
          <p:nvPr/>
        </p:nvSpPr>
        <p:spPr>
          <a:xfrm xmlns:a="http://schemas.openxmlformats.org/drawingml/2006/main">
            <a:off x="571500" y="4000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23043"/>
                </a:solidFill>
              </a:defRPr>
            </a:defPPr>
          </a:lstStyle>
          <a:p xmlns:a="http://schemas.openxmlformats.org/drawingml/2006/main">
            <a:pPr>
              <a:defRPr sz="3000" b="1">
                <a:solidFill>
                  <a:srgbClr val="123043"/>
                </a:solidFill>
              </a:defRPr>
            </a:pPr>
            <a:r>
              <a:rPr sz="3000" b="1">
                <a:solidFill>
                  <a:srgbClr val="123043"/>
                </a:solidFill>
              </a:rPr>
              <a:t>Current delivery demo</a:t>
            </a:r>
          </a:p>
        </p:txBody>
      </p:sp>
      <p:sp>
        <p:nvSpPr>
          <p:cNvPr id="2" name="subtitle">
            <a:extLst xmlns:a="http://schemas.openxmlformats.org/drawingml/2006/main">
              <a:ext uri="{FF2B5EF4-FFF2-40B4-BE49-F238E27FC236}">
                <a16:creationId xmlns:a16="http://schemas.microsoft.com/office/drawing/2014/main" id="{9201575C-9ED9-43B3-8DCF-448F67B6C3C9}"/>
              </a:ext>
            </a:extLst>
          </p:cNvPr>
          <p:cNvSpPr>
            <a:spLocks xmlns:a="http://schemas.openxmlformats.org/drawingml/2006/main" noGrp="1"/>
          </p:cNvSpPr>
          <p:nvPr/>
        </p:nvSpPr>
        <p:spPr>
          <a:xfrm xmlns:a="http://schemas.openxmlformats.org/drawingml/2006/main">
            <a:off x="590550" y="10477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7082"/>
                </a:solidFill>
              </a:defRPr>
            </a:defPPr>
          </a:lstStyle>
          <a:p xmlns:a="http://schemas.openxmlformats.org/drawingml/2006/main">
            <a:pPr>
              <a:defRPr sz="1725" b="0">
                <a:solidFill>
                  <a:srgbClr val="587082"/>
                </a:solidFill>
              </a:defRPr>
            </a:pPr>
            <a:r>
              <a:rPr sz="1725" b="0">
                <a:solidFill>
                  <a:srgbClr val="587082"/>
                </a:solidFill>
              </a:rPr>
              <a:t>One package from the pickup area to a configured destination</a:t>
            </a:r>
          </a:p>
        </p:txBody>
      </p:sp>
      <p:sp>
        <p:nvSpPr>
          <p:cNvPr id="3" name="footer">
            <a:extLst xmlns:a="http://schemas.openxmlformats.org/drawingml/2006/main">
              <a:ext uri="{FF2B5EF4-FFF2-40B4-BE49-F238E27FC236}">
                <a16:creationId xmlns:a16="http://schemas.microsoft.com/office/drawing/2014/main" id="{48647EA0-F02A-421B-81B1-2ACD117DE3F2}"/>
              </a:ext>
            </a:extLst>
          </p:cNvPr>
          <p:cNvSpPr>
            <a:spLocks xmlns:a="http://schemas.openxmlformats.org/drawingml/2006/main" noGrp="1"/>
          </p:cNvSpPr>
          <p:nvPr/>
        </p:nvSpPr>
        <p:spPr>
          <a:xfrm xmlns:a="http://schemas.openxmlformats.org/drawingml/2006/main">
            <a:off x="571500" y="65246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UC9 Drone Sorting / Weekly Report / 14 October 2026</a:t>
            </a:r>
          </a:p>
        </p:txBody>
      </p:sp>
      <p:sp>
        <p:nvSpPr>
          <p:cNvPr id="4" name="page-number">
            <a:extLst xmlns:a="http://schemas.openxmlformats.org/drawingml/2006/main">
              <a:ext uri="{FF2B5EF4-FFF2-40B4-BE49-F238E27FC236}">
                <a16:creationId xmlns:a16="http://schemas.microsoft.com/office/drawing/2014/main" id="{7ED868F9-AA8D-43CE-B699-58DCD3ED9EFE}"/>
              </a:ext>
            </a:extLst>
          </p:cNvPr>
          <p:cNvSpPr>
            <a:spLocks xmlns:a="http://schemas.openxmlformats.org/drawingml/2006/main" noGrp="1"/>
          </p:cNvSpPr>
          <p:nvPr/>
        </p:nvSpPr>
        <p:spPr>
          <a:xfrm xmlns:a="http://schemas.openxmlformats.org/drawingml/2006/main">
            <a:off x="11049000" y="65246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4/5</a:t>
            </a:r>
          </a:p>
        </p:txBody>
      </p:sp>
      <p:pic>
        <p:nvPicPr>
          <p:cNvPr id="5" name="">
            <a:extLst xmlns:a="http://schemas.openxmlformats.org/drawingml/2006/main">
              <a:ext uri="{FF2B5EF4-FFF2-40B4-BE49-F238E27FC236}">
                <a16:creationId xmlns:a16="http://schemas.microsoft.com/office/drawing/2014/main" id="{000FF61B-A4D2-4040-A683-6B7C28164D82}"/>
              </a:ext>
            </a:extLst>
          </p:cNvPr>
          <p:cNvPicPr>
            <a:picLocks xmlns:a="http://schemas.openxmlformats.org/drawingml/2006/main" noChangeAspect="1"/>
          </p:cNvPicPr>
          <p:nvPr/>
        </p:nvPicPr>
        <p:blipFill>
          <a:blip xmlns:r="http://schemas.openxmlformats.org/officeDocument/2006/relationships" xmlns:a="http://schemas.openxmlformats.org/drawingml/2006/main" r:embed="Rcdf76c8260804531"/>
          <a:stretch xmlns:a="http://schemas.openxmlformats.org/drawingml/2006/main"/>
        </p:blipFill>
        <p:spPr>
          <a:xfrm xmlns:a="http://schemas.openxmlformats.org/drawingml/2006/main">
            <a:off x="571500" y="1762125"/>
            <a:ext cx="7524750" cy="4232672"/>
          </a:xfrm>
          <a:prstGeom xmlns:a="http://schemas.openxmlformats.org/drawingml/2006/main" prst="rect">
            <a:avLst/>
          </a:prstGeom>
        </p:spPr>
      </p:pic>
      <p:sp>
        <p:nvSpPr>
          <p:cNvPr id="6" name="stage-number-0">
            <a:extLst xmlns:a="http://schemas.openxmlformats.org/drawingml/2006/main">
              <a:ext uri="{FF2B5EF4-FFF2-40B4-BE49-F238E27FC236}">
                <a16:creationId xmlns:a16="http://schemas.microsoft.com/office/drawing/2014/main" id="{14718C53-4A09-4537-87FB-F81614E73BB8}"/>
              </a:ext>
            </a:extLst>
          </p:cNvPr>
          <p:cNvSpPr>
            <a:spLocks xmlns:a="http://schemas.openxmlformats.org/drawingml/2006/main" noGrp="1"/>
          </p:cNvSpPr>
          <p:nvPr/>
        </p:nvSpPr>
        <p:spPr>
          <a:xfrm xmlns:a="http://schemas.openxmlformats.org/drawingml/2006/main">
            <a:off x="8572500" y="182880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8BC4"/>
                </a:solidFill>
              </a:defRPr>
            </a:defPPr>
          </a:lstStyle>
          <a:p xmlns:a="http://schemas.openxmlformats.org/drawingml/2006/main">
            <a:pPr>
              <a:defRPr sz="2325" b="1">
                <a:solidFill>
                  <a:srgbClr val="208BC4"/>
                </a:solidFill>
              </a:defRPr>
            </a:pPr>
            <a:r>
              <a:rPr sz="2325" b="1">
                <a:solidFill>
                  <a:srgbClr val="208BC4"/>
                </a:solidFill>
              </a:rPr>
              <a:t>01</a:t>
            </a:r>
          </a:p>
        </p:txBody>
      </p:sp>
      <p:sp>
        <p:nvSpPr>
          <p:cNvPr id="7" name="stage-0">
            <a:extLst xmlns:a="http://schemas.openxmlformats.org/drawingml/2006/main">
              <a:ext uri="{FF2B5EF4-FFF2-40B4-BE49-F238E27FC236}">
                <a16:creationId xmlns:a16="http://schemas.microsoft.com/office/drawing/2014/main" id="{B0AB1FAB-4206-499E-879E-41E82A2289C2}"/>
              </a:ext>
            </a:extLst>
          </p:cNvPr>
          <p:cNvSpPr>
            <a:spLocks xmlns:a="http://schemas.openxmlformats.org/drawingml/2006/main" noGrp="1"/>
          </p:cNvSpPr>
          <p:nvPr/>
        </p:nvSpPr>
        <p:spPr>
          <a:xfrm xmlns:a="http://schemas.openxmlformats.org/drawingml/2006/main">
            <a:off x="9239250" y="18669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3043"/>
                </a:solidFill>
              </a:defRPr>
            </a:defPPr>
          </a:lstStyle>
          <a:p xmlns:a="http://schemas.openxmlformats.org/drawingml/2006/main">
            <a:pPr>
              <a:defRPr sz="1950" b="1">
                <a:solidFill>
                  <a:srgbClr val="123043"/>
                </a:solidFill>
              </a:defRPr>
            </a:pPr>
            <a:r>
              <a:rPr sz="1950" b="1">
                <a:solidFill>
                  <a:srgbClr val="123043"/>
                </a:solidFill>
              </a:rPr>
              <a:t>Start</a:t>
            </a:r>
          </a:p>
        </p:txBody>
      </p:sp>
      <p:sp>
        <p:nvSpPr>
          <p:cNvPr id="8" name="stage-number-1">
            <a:extLst xmlns:a="http://schemas.openxmlformats.org/drawingml/2006/main">
              <a:ext uri="{FF2B5EF4-FFF2-40B4-BE49-F238E27FC236}">
                <a16:creationId xmlns:a16="http://schemas.microsoft.com/office/drawing/2014/main" id="{6BED8B69-7DD8-4663-92F4-3611174A3916}"/>
              </a:ext>
            </a:extLst>
          </p:cNvPr>
          <p:cNvSpPr>
            <a:spLocks xmlns:a="http://schemas.openxmlformats.org/drawingml/2006/main" noGrp="1"/>
          </p:cNvSpPr>
          <p:nvPr/>
        </p:nvSpPr>
        <p:spPr>
          <a:xfrm xmlns:a="http://schemas.openxmlformats.org/drawingml/2006/main">
            <a:off x="8572500" y="24669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8BC4"/>
                </a:solidFill>
              </a:defRPr>
            </a:defPPr>
          </a:lstStyle>
          <a:p xmlns:a="http://schemas.openxmlformats.org/drawingml/2006/main">
            <a:pPr>
              <a:defRPr sz="2325" b="1">
                <a:solidFill>
                  <a:srgbClr val="208BC4"/>
                </a:solidFill>
              </a:defRPr>
            </a:pPr>
            <a:r>
              <a:rPr sz="2325" b="1">
                <a:solidFill>
                  <a:srgbClr val="208BC4"/>
                </a:solidFill>
              </a:rPr>
              <a:t>02</a:t>
            </a:r>
          </a:p>
        </p:txBody>
      </p:sp>
      <p:sp>
        <p:nvSpPr>
          <p:cNvPr id="9" name="stage-1">
            <a:extLst xmlns:a="http://schemas.openxmlformats.org/drawingml/2006/main">
              <a:ext uri="{FF2B5EF4-FFF2-40B4-BE49-F238E27FC236}">
                <a16:creationId xmlns:a16="http://schemas.microsoft.com/office/drawing/2014/main" id="{CC9F1E12-5385-410B-AE6A-EBFF21DD25A2}"/>
              </a:ext>
            </a:extLst>
          </p:cNvPr>
          <p:cNvSpPr>
            <a:spLocks xmlns:a="http://schemas.openxmlformats.org/drawingml/2006/main" noGrp="1"/>
          </p:cNvSpPr>
          <p:nvPr/>
        </p:nvSpPr>
        <p:spPr>
          <a:xfrm xmlns:a="http://schemas.openxmlformats.org/drawingml/2006/main">
            <a:off x="9239250" y="25050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3043"/>
                </a:solidFill>
              </a:defRPr>
            </a:defPPr>
          </a:lstStyle>
          <a:p xmlns:a="http://schemas.openxmlformats.org/drawingml/2006/main">
            <a:pPr>
              <a:defRPr sz="1950" b="1">
                <a:solidFill>
                  <a:srgbClr val="123043"/>
                </a:solidFill>
              </a:defRPr>
            </a:pPr>
            <a:r>
              <a:rPr sz="1950" b="1">
                <a:solidFill>
                  <a:srgbClr val="123043"/>
                </a:solidFill>
              </a:rPr>
              <a:t>Observation hover</a:t>
            </a:r>
          </a:p>
        </p:txBody>
      </p:sp>
      <p:sp>
        <p:nvSpPr>
          <p:cNvPr id="10" name="stage-number-2">
            <a:extLst xmlns:a="http://schemas.openxmlformats.org/drawingml/2006/main">
              <a:ext uri="{FF2B5EF4-FFF2-40B4-BE49-F238E27FC236}">
                <a16:creationId xmlns:a16="http://schemas.microsoft.com/office/drawing/2014/main" id="{CC3E3888-FAF4-4729-BBA9-BAEC6B33BF35}"/>
              </a:ext>
            </a:extLst>
          </p:cNvPr>
          <p:cNvSpPr>
            <a:spLocks xmlns:a="http://schemas.openxmlformats.org/drawingml/2006/main" noGrp="1"/>
          </p:cNvSpPr>
          <p:nvPr/>
        </p:nvSpPr>
        <p:spPr>
          <a:xfrm xmlns:a="http://schemas.openxmlformats.org/drawingml/2006/main">
            <a:off x="8572500" y="31051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8BC4"/>
                </a:solidFill>
              </a:defRPr>
            </a:defPPr>
          </a:lstStyle>
          <a:p xmlns:a="http://schemas.openxmlformats.org/drawingml/2006/main">
            <a:pPr>
              <a:defRPr sz="2325" b="1">
                <a:solidFill>
                  <a:srgbClr val="208BC4"/>
                </a:solidFill>
              </a:defRPr>
            </a:pPr>
            <a:r>
              <a:rPr sz="2325" b="1">
                <a:solidFill>
                  <a:srgbClr val="208BC4"/>
                </a:solidFill>
              </a:rPr>
              <a:t>03</a:t>
            </a:r>
          </a:p>
        </p:txBody>
      </p:sp>
      <p:sp>
        <p:nvSpPr>
          <p:cNvPr id="11" name="stage-2">
            <a:extLst xmlns:a="http://schemas.openxmlformats.org/drawingml/2006/main">
              <a:ext uri="{FF2B5EF4-FFF2-40B4-BE49-F238E27FC236}">
                <a16:creationId xmlns:a16="http://schemas.microsoft.com/office/drawing/2014/main" id="{434DB6AD-4F26-479F-9F09-3DDCA994A106}"/>
              </a:ext>
            </a:extLst>
          </p:cNvPr>
          <p:cNvSpPr>
            <a:spLocks xmlns:a="http://schemas.openxmlformats.org/drawingml/2006/main" noGrp="1"/>
          </p:cNvSpPr>
          <p:nvPr/>
        </p:nvSpPr>
        <p:spPr>
          <a:xfrm xmlns:a="http://schemas.openxmlformats.org/drawingml/2006/main">
            <a:off x="9239250" y="3143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3043"/>
                </a:solidFill>
              </a:defRPr>
            </a:defPPr>
          </a:lstStyle>
          <a:p xmlns:a="http://schemas.openxmlformats.org/drawingml/2006/main">
            <a:pPr>
              <a:defRPr sz="1950" b="1">
                <a:solidFill>
                  <a:srgbClr val="123043"/>
                </a:solidFill>
              </a:defRPr>
            </a:pPr>
            <a:r>
              <a:rPr sz="1950" b="1">
                <a:solidFill>
                  <a:srgbClr val="123043"/>
                </a:solidFill>
              </a:rPr>
              <a:t>Detect and locate</a:t>
            </a:r>
          </a:p>
        </p:txBody>
      </p:sp>
      <p:sp>
        <p:nvSpPr>
          <p:cNvPr id="12" name="stage-number-3">
            <a:extLst xmlns:a="http://schemas.openxmlformats.org/drawingml/2006/main">
              <a:ext uri="{FF2B5EF4-FFF2-40B4-BE49-F238E27FC236}">
                <a16:creationId xmlns:a16="http://schemas.microsoft.com/office/drawing/2014/main" id="{2747E6D2-EADC-4D5E-A61F-F642B1C604CA}"/>
              </a:ext>
            </a:extLst>
          </p:cNvPr>
          <p:cNvSpPr>
            <a:spLocks xmlns:a="http://schemas.openxmlformats.org/drawingml/2006/main" noGrp="1"/>
          </p:cNvSpPr>
          <p:nvPr/>
        </p:nvSpPr>
        <p:spPr>
          <a:xfrm xmlns:a="http://schemas.openxmlformats.org/drawingml/2006/main">
            <a:off x="8572500" y="37433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8BC4"/>
                </a:solidFill>
              </a:defRPr>
            </a:defPPr>
          </a:lstStyle>
          <a:p xmlns:a="http://schemas.openxmlformats.org/drawingml/2006/main">
            <a:pPr>
              <a:defRPr sz="2325" b="1">
                <a:solidFill>
                  <a:srgbClr val="208BC4"/>
                </a:solidFill>
              </a:defRPr>
            </a:pPr>
            <a:r>
              <a:rPr sz="2325" b="1">
                <a:solidFill>
                  <a:srgbClr val="208BC4"/>
                </a:solidFill>
              </a:rPr>
              <a:t>04</a:t>
            </a:r>
          </a:p>
        </p:txBody>
      </p:sp>
      <p:sp>
        <p:nvSpPr>
          <p:cNvPr id="13" name="stage-3">
            <a:extLst xmlns:a="http://schemas.openxmlformats.org/drawingml/2006/main">
              <a:ext uri="{FF2B5EF4-FFF2-40B4-BE49-F238E27FC236}">
                <a16:creationId xmlns:a16="http://schemas.microsoft.com/office/drawing/2014/main" id="{F9E9C44F-3C73-4E3F-A069-969394004DB1}"/>
              </a:ext>
            </a:extLst>
          </p:cNvPr>
          <p:cNvSpPr>
            <a:spLocks xmlns:a="http://schemas.openxmlformats.org/drawingml/2006/main" noGrp="1"/>
          </p:cNvSpPr>
          <p:nvPr/>
        </p:nvSpPr>
        <p:spPr>
          <a:xfrm xmlns:a="http://schemas.openxmlformats.org/drawingml/2006/main">
            <a:off x="9239250" y="378142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3043"/>
                </a:solidFill>
              </a:defRPr>
            </a:defPPr>
          </a:lstStyle>
          <a:p xmlns:a="http://schemas.openxmlformats.org/drawingml/2006/main">
            <a:pPr>
              <a:defRPr sz="1950" b="1">
                <a:solidFill>
                  <a:srgbClr val="123043"/>
                </a:solidFill>
              </a:defRPr>
            </a:pPr>
            <a:r>
              <a:rPr sz="1950" b="1">
                <a:solidFill>
                  <a:srgbClr val="123043"/>
                </a:solidFill>
              </a:rPr>
              <a:t>Pick up and lift</a:t>
            </a:r>
          </a:p>
        </p:txBody>
      </p:sp>
      <p:sp>
        <p:nvSpPr>
          <p:cNvPr id="14" name="stage-number-4">
            <a:extLst xmlns:a="http://schemas.openxmlformats.org/drawingml/2006/main">
              <a:ext uri="{FF2B5EF4-FFF2-40B4-BE49-F238E27FC236}">
                <a16:creationId xmlns:a16="http://schemas.microsoft.com/office/drawing/2014/main" id="{BF66CE6E-E435-4FAD-98FE-36C04E7AA38F}"/>
              </a:ext>
            </a:extLst>
          </p:cNvPr>
          <p:cNvSpPr>
            <a:spLocks xmlns:a="http://schemas.openxmlformats.org/drawingml/2006/main" noGrp="1"/>
          </p:cNvSpPr>
          <p:nvPr/>
        </p:nvSpPr>
        <p:spPr>
          <a:xfrm xmlns:a="http://schemas.openxmlformats.org/drawingml/2006/main">
            <a:off x="8572500" y="438150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8BC4"/>
                </a:solidFill>
              </a:defRPr>
            </a:defPPr>
          </a:lstStyle>
          <a:p xmlns:a="http://schemas.openxmlformats.org/drawingml/2006/main">
            <a:pPr>
              <a:defRPr sz="2325" b="1">
                <a:solidFill>
                  <a:srgbClr val="208BC4"/>
                </a:solidFill>
              </a:defRPr>
            </a:pPr>
            <a:r>
              <a:rPr sz="2325" b="1">
                <a:solidFill>
                  <a:srgbClr val="208BC4"/>
                </a:solidFill>
              </a:rPr>
              <a:t>05</a:t>
            </a:r>
          </a:p>
        </p:txBody>
      </p:sp>
      <p:sp>
        <p:nvSpPr>
          <p:cNvPr id="15" name="stage-4">
            <a:extLst xmlns:a="http://schemas.openxmlformats.org/drawingml/2006/main">
              <a:ext uri="{FF2B5EF4-FFF2-40B4-BE49-F238E27FC236}">
                <a16:creationId xmlns:a16="http://schemas.microsoft.com/office/drawing/2014/main" id="{6061B852-F36B-4BDA-8664-ADF218D77DF2}"/>
              </a:ext>
            </a:extLst>
          </p:cNvPr>
          <p:cNvSpPr>
            <a:spLocks xmlns:a="http://schemas.openxmlformats.org/drawingml/2006/main" noGrp="1"/>
          </p:cNvSpPr>
          <p:nvPr/>
        </p:nvSpPr>
        <p:spPr>
          <a:xfrm xmlns:a="http://schemas.openxmlformats.org/drawingml/2006/main">
            <a:off x="9239250" y="44196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3043"/>
                </a:solidFill>
              </a:defRPr>
            </a:defPPr>
          </a:lstStyle>
          <a:p xmlns:a="http://schemas.openxmlformats.org/drawingml/2006/main">
            <a:pPr>
              <a:defRPr sz="1950" b="1">
                <a:solidFill>
                  <a:srgbClr val="123043"/>
                </a:solidFill>
              </a:defRPr>
            </a:pPr>
            <a:r>
              <a:rPr sz="1950" b="1">
                <a:solidFill>
                  <a:srgbClr val="123043"/>
                </a:solidFill>
              </a:rPr>
              <a:t>Carry</a:t>
            </a:r>
          </a:p>
        </p:txBody>
      </p:sp>
      <p:sp>
        <p:nvSpPr>
          <p:cNvPr id="16" name="stage-number-5">
            <a:extLst xmlns:a="http://schemas.openxmlformats.org/drawingml/2006/main">
              <a:ext uri="{FF2B5EF4-FFF2-40B4-BE49-F238E27FC236}">
                <a16:creationId xmlns:a16="http://schemas.microsoft.com/office/drawing/2014/main" id="{F592ADBF-D6B3-47CC-9365-1C7C9BEFF20E}"/>
              </a:ext>
            </a:extLst>
          </p:cNvPr>
          <p:cNvSpPr>
            <a:spLocks xmlns:a="http://schemas.openxmlformats.org/drawingml/2006/main" noGrp="1"/>
          </p:cNvSpPr>
          <p:nvPr/>
        </p:nvSpPr>
        <p:spPr>
          <a:xfrm xmlns:a="http://schemas.openxmlformats.org/drawingml/2006/main">
            <a:off x="8572500" y="50196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208BC4"/>
                </a:solidFill>
              </a:defRPr>
            </a:defPPr>
          </a:lstStyle>
          <a:p xmlns:a="http://schemas.openxmlformats.org/drawingml/2006/main">
            <a:pPr>
              <a:defRPr sz="2325" b="1">
                <a:solidFill>
                  <a:srgbClr val="208BC4"/>
                </a:solidFill>
              </a:defRPr>
            </a:pPr>
            <a:r>
              <a:rPr sz="2325" b="1">
                <a:solidFill>
                  <a:srgbClr val="208BC4"/>
                </a:solidFill>
              </a:rPr>
              <a:t>06</a:t>
            </a:r>
          </a:p>
        </p:txBody>
      </p:sp>
      <p:sp>
        <p:nvSpPr>
          <p:cNvPr id="17" name="stage-5">
            <a:extLst xmlns:a="http://schemas.openxmlformats.org/drawingml/2006/main">
              <a:ext uri="{FF2B5EF4-FFF2-40B4-BE49-F238E27FC236}">
                <a16:creationId xmlns:a16="http://schemas.microsoft.com/office/drawing/2014/main" id="{C7F7B035-0A32-4F71-AD88-10270DFD3B02}"/>
              </a:ext>
            </a:extLst>
          </p:cNvPr>
          <p:cNvSpPr>
            <a:spLocks xmlns:a="http://schemas.openxmlformats.org/drawingml/2006/main" noGrp="1"/>
          </p:cNvSpPr>
          <p:nvPr/>
        </p:nvSpPr>
        <p:spPr>
          <a:xfrm xmlns:a="http://schemas.openxmlformats.org/drawingml/2006/main">
            <a:off x="9239250" y="50577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3043"/>
                </a:solidFill>
              </a:defRPr>
            </a:defPPr>
          </a:lstStyle>
          <a:p xmlns:a="http://schemas.openxmlformats.org/drawingml/2006/main">
            <a:pPr>
              <a:defRPr sz="1950" b="1">
                <a:solidFill>
                  <a:srgbClr val="123043"/>
                </a:solidFill>
              </a:defRPr>
            </a:pPr>
            <a:r>
              <a:rPr sz="1950" b="1">
                <a:solidFill>
                  <a:srgbClr val="123043"/>
                </a:solidFill>
              </a:rPr>
              <a:t>Release and settle</a:t>
            </a:r>
          </a:p>
        </p:txBody>
      </p:sp>
      <p:sp>
        <p:nvSpPr>
          <p:cNvPr id="18" name="demo-note">
            <a:extLst xmlns:a="http://schemas.openxmlformats.org/drawingml/2006/main">
              <a:ext uri="{FF2B5EF4-FFF2-40B4-BE49-F238E27FC236}">
                <a16:creationId xmlns:a16="http://schemas.microsoft.com/office/drawing/2014/main" id="{F069841D-11BF-4B65-8C97-D0E06B829EEE}"/>
              </a:ext>
            </a:extLst>
          </p:cNvPr>
          <p:cNvSpPr>
            <a:spLocks xmlns:a="http://schemas.openxmlformats.org/drawingml/2006/main" noGrp="1"/>
          </p:cNvSpPr>
          <p:nvPr/>
        </p:nvSpPr>
        <p:spPr>
          <a:xfrm xmlns:a="http://schemas.openxmlformats.org/drawingml/2006/main">
            <a:off x="571500" y="6153150"/>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87082"/>
                </a:solidFill>
              </a:defRPr>
            </a:defPPr>
          </a:lstStyle>
          <a:p xmlns:a="http://schemas.openxmlformats.org/drawingml/2006/main">
            <a:pPr>
              <a:defRPr sz="1650" b="0">
                <a:solidFill>
                  <a:srgbClr val="587082"/>
                </a:solidFill>
              </a:defRPr>
            </a:pPr>
            <a:r>
              <a:rPr sz="1650" b="0">
                <a:solidFill>
                  <a:srgbClr val="587082"/>
                </a:solidFill>
              </a:rPr>
              <a:t>Unity confirms pickup and release.</a:t>
            </a:r>
          </a:p>
        </p:txBody>
      </p:sp>
    </p:spTree>
    <p:extLst>
      <p:ext uri="{BB962C8B-B14F-4D97-AF65-F5344CB8AC3E}">
        <p14:creationId xmlns:p14="http://schemas.microsoft.com/office/powerpoint/2010/main" val="992867324"/>
      </p:ext>
    </p:extLst>
  </p:cSld>
</p:sld>
</file>

<file path=ppt/slides/slide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EB3B500-E2DC-40DE-B6F4-CCA5165F2558}"/>
              </a:ext>
            </a:extLst>
          </p:cNvPr>
          <p:cNvSpPr>
            <a:spLocks xmlns:a="http://schemas.openxmlformats.org/drawingml/2006/main" noGrp="1"/>
          </p:cNvSpPr>
          <p:nvPr/>
        </p:nvSpPr>
        <p:spPr>
          <a:xfrm xmlns:a="http://schemas.openxmlformats.org/drawingml/2006/main">
            <a:off x="571500" y="4000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23043"/>
                </a:solidFill>
              </a:defRPr>
            </a:defPPr>
          </a:lstStyle>
          <a:p xmlns:a="http://schemas.openxmlformats.org/drawingml/2006/main">
            <a:pPr>
              <a:defRPr sz="3000" b="1">
                <a:solidFill>
                  <a:srgbClr val="123043"/>
                </a:solidFill>
              </a:defRPr>
            </a:pPr>
            <a:r>
              <a:rPr sz="3000" b="1">
                <a:solidFill>
                  <a:srgbClr val="123043"/>
                </a:solidFill>
              </a:rPr>
              <a:t>Next: LiDAR obstacle avoidance</a:t>
            </a:r>
          </a:p>
        </p:txBody>
      </p:sp>
      <p:sp>
        <p:nvSpPr>
          <p:cNvPr id="2" name="subtitle">
            <a:extLst xmlns:a="http://schemas.openxmlformats.org/drawingml/2006/main">
              <a:ext uri="{FF2B5EF4-FFF2-40B4-BE49-F238E27FC236}">
                <a16:creationId xmlns:a16="http://schemas.microsoft.com/office/drawing/2014/main" id="{8F8F05DD-7BAF-4218-88D9-089B88BFCF92}"/>
              </a:ext>
            </a:extLst>
          </p:cNvPr>
          <p:cNvSpPr>
            <a:spLocks xmlns:a="http://schemas.openxmlformats.org/drawingml/2006/main" noGrp="1"/>
          </p:cNvSpPr>
          <p:nvPr/>
        </p:nvSpPr>
        <p:spPr>
          <a:xfrm xmlns:a="http://schemas.openxmlformats.org/drawingml/2006/main">
            <a:off x="590550" y="10477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7082"/>
                </a:solidFill>
              </a:defRPr>
            </a:defPPr>
          </a:lstStyle>
          <a:p xmlns:a="http://schemas.openxmlformats.org/drawingml/2006/main">
            <a:pPr>
              <a:defRPr sz="1725" b="0">
                <a:solidFill>
                  <a:srgbClr val="587082"/>
                </a:solidFill>
              </a:defRPr>
            </a:pPr>
            <a:r>
              <a:rPr sz="1725" b="0">
                <a:solidFill>
                  <a:srgbClr val="587082"/>
                </a:solidFill>
              </a:rPr>
              <a:t>Distance sensing for the surrounding warehouse</a:t>
            </a:r>
          </a:p>
        </p:txBody>
      </p:sp>
      <p:sp>
        <p:nvSpPr>
          <p:cNvPr id="3" name="footer">
            <a:extLst xmlns:a="http://schemas.openxmlformats.org/drawingml/2006/main">
              <a:ext uri="{FF2B5EF4-FFF2-40B4-BE49-F238E27FC236}">
                <a16:creationId xmlns:a16="http://schemas.microsoft.com/office/drawing/2014/main" id="{F64B98FB-4F48-4464-976D-2350DD5CE6A3}"/>
              </a:ext>
            </a:extLst>
          </p:cNvPr>
          <p:cNvSpPr>
            <a:spLocks xmlns:a="http://schemas.openxmlformats.org/drawingml/2006/main" noGrp="1"/>
          </p:cNvSpPr>
          <p:nvPr/>
        </p:nvSpPr>
        <p:spPr>
          <a:xfrm xmlns:a="http://schemas.openxmlformats.org/drawingml/2006/main">
            <a:off x="571500" y="65246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UC9 Drone Sorting / Weekly Report / 14 October 2026</a:t>
            </a:r>
          </a:p>
        </p:txBody>
      </p:sp>
      <p:sp>
        <p:nvSpPr>
          <p:cNvPr id="4" name="page-number">
            <a:extLst xmlns:a="http://schemas.openxmlformats.org/drawingml/2006/main">
              <a:ext uri="{FF2B5EF4-FFF2-40B4-BE49-F238E27FC236}">
                <a16:creationId xmlns:a16="http://schemas.microsoft.com/office/drawing/2014/main" id="{310F42B5-5FB0-4EB2-8212-6AFB0ACD6A04}"/>
              </a:ext>
            </a:extLst>
          </p:cNvPr>
          <p:cNvSpPr>
            <a:spLocks xmlns:a="http://schemas.openxmlformats.org/drawingml/2006/main" noGrp="1"/>
          </p:cNvSpPr>
          <p:nvPr/>
        </p:nvSpPr>
        <p:spPr>
          <a:xfrm xmlns:a="http://schemas.openxmlformats.org/drawingml/2006/main">
            <a:off x="11049000" y="65246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87082"/>
                </a:solidFill>
              </a:defRPr>
            </a:defPPr>
          </a:lstStyle>
          <a:p xmlns:a="http://schemas.openxmlformats.org/drawingml/2006/main">
            <a:pPr>
              <a:defRPr sz="1050" b="0">
                <a:solidFill>
                  <a:srgbClr val="587082"/>
                </a:solidFill>
              </a:defRPr>
            </a:pPr>
            <a:r>
              <a:rPr sz="1050" b="0">
                <a:solidFill>
                  <a:srgbClr val="587082"/>
                </a:solidFill>
              </a:rPr>
              <a:t>5/5</a:t>
            </a:r>
          </a:p>
        </p:txBody>
      </p:sp>
      <p:pic>
        <p:nvPicPr>
          <p:cNvPr id="5" name="">
            <a:extLst xmlns:a="http://schemas.openxmlformats.org/drawingml/2006/main">
              <a:ext uri="{FF2B5EF4-FFF2-40B4-BE49-F238E27FC236}">
                <a16:creationId xmlns:a16="http://schemas.microsoft.com/office/drawing/2014/main" id="{4CF40A38-0E19-4646-A13E-44DFBEB9D7A7}"/>
              </a:ext>
            </a:extLst>
          </p:cNvPr>
          <p:cNvPicPr>
            <a:picLocks xmlns:a="http://schemas.openxmlformats.org/drawingml/2006/main" noChangeAspect="1"/>
          </p:cNvPicPr>
          <p:nvPr/>
        </p:nvPicPr>
        <p:blipFill>
          <a:blip xmlns:r="http://schemas.openxmlformats.org/officeDocument/2006/relationships" xmlns:a="http://schemas.openxmlformats.org/drawingml/2006/main" r:embed="Rd36a8256236c4e99"/>
          <a:stretch xmlns:a="http://schemas.openxmlformats.org/drawingml/2006/main"/>
        </p:blipFill>
        <p:spPr>
          <a:xfrm xmlns:a="http://schemas.openxmlformats.org/drawingml/2006/main">
            <a:off x="571500" y="1866900"/>
            <a:ext cx="7067550" cy="3975497"/>
          </a:xfrm>
          <a:prstGeom xmlns:a="http://schemas.openxmlformats.org/drawingml/2006/main" prst="rect">
            <a:avLst/>
          </a:prstGeom>
        </p:spPr>
      </p:pic>
      <p:sp>
        <p:nvSpPr>
          <p:cNvPr id="6" name="next-1">
            <a:extLst xmlns:a="http://schemas.openxmlformats.org/drawingml/2006/main">
              <a:ext uri="{FF2B5EF4-FFF2-40B4-BE49-F238E27FC236}">
                <a16:creationId xmlns:a16="http://schemas.microsoft.com/office/drawing/2014/main" id="{16EC1866-ECFD-4CB6-B87F-E950E7038709}"/>
              </a:ext>
            </a:extLst>
          </p:cNvPr>
          <p:cNvSpPr>
            <a:spLocks xmlns:a="http://schemas.openxmlformats.org/drawingml/2006/main" noGrp="1"/>
          </p:cNvSpPr>
          <p:nvPr/>
        </p:nvSpPr>
        <p:spPr>
          <a:xfrm xmlns:a="http://schemas.openxmlformats.org/drawingml/2006/main">
            <a:off x="8058150" y="2000250"/>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08BC4"/>
                </a:solidFill>
              </a:defRPr>
            </a:defPPr>
          </a:lstStyle>
          <a:p xmlns:a="http://schemas.openxmlformats.org/drawingml/2006/main">
            <a:pPr>
              <a:defRPr sz="2175" b="1">
                <a:solidFill>
                  <a:srgbClr val="208BC4"/>
                </a:solidFill>
              </a:defRPr>
            </a:pPr>
            <a:r>
              <a:rPr sz="2175" b="1">
                <a:solidFill>
                  <a:srgbClr val="208BC4"/>
                </a:solidFill>
              </a:rPr>
              <a:t>Add simulated LiDAR</a:t>
            </a:r>
          </a:p>
        </p:txBody>
      </p:sp>
      <p:sp>
        <p:nvSpPr>
          <p:cNvPr id="7" name="next-1-desc">
            <a:extLst xmlns:a="http://schemas.openxmlformats.org/drawingml/2006/main">
              <a:ext uri="{FF2B5EF4-FFF2-40B4-BE49-F238E27FC236}">
                <a16:creationId xmlns:a16="http://schemas.microsoft.com/office/drawing/2014/main" id="{4F93FFAE-B573-4281-80EE-CB6C142CA732}"/>
              </a:ext>
            </a:extLst>
          </p:cNvPr>
          <p:cNvSpPr>
            <a:spLocks xmlns:a="http://schemas.openxmlformats.org/drawingml/2006/main" noGrp="1"/>
          </p:cNvSpPr>
          <p:nvPr/>
        </p:nvSpPr>
        <p:spPr>
          <a:xfrm xmlns:a="http://schemas.openxmlformats.org/drawingml/2006/main">
            <a:off x="8058150" y="2562225"/>
            <a:ext cx="3562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87082"/>
                </a:solidFill>
              </a:defRPr>
            </a:defPPr>
          </a:lstStyle>
          <a:p xmlns:a="http://schemas.openxmlformats.org/drawingml/2006/main">
            <a:pPr>
              <a:defRPr sz="1950" b="0">
                <a:solidFill>
                  <a:srgbClr val="587082"/>
                </a:solidFill>
              </a:defRPr>
            </a:pPr>
            <a:r>
              <a:rPr sz="1950" b="0">
                <a:solidFill>
                  <a:srgbClr val="587082"/>
                </a:solidFill>
              </a:rPr>
              <a:t>Measure surrounding obstacles</a:t>
            </a:r>
          </a:p>
        </p:txBody>
      </p:sp>
      <p:sp>
        <p:nvSpPr>
          <p:cNvPr id="8" name="next-2">
            <a:extLst xmlns:a="http://schemas.openxmlformats.org/drawingml/2006/main">
              <a:ext uri="{FF2B5EF4-FFF2-40B4-BE49-F238E27FC236}">
                <a16:creationId xmlns:a16="http://schemas.microsoft.com/office/drawing/2014/main" id="{0D513751-39DE-40B0-AD86-49FB7B3ED7DD}"/>
              </a:ext>
            </a:extLst>
          </p:cNvPr>
          <p:cNvSpPr>
            <a:spLocks xmlns:a="http://schemas.openxmlformats.org/drawingml/2006/main" noGrp="1"/>
          </p:cNvSpPr>
          <p:nvPr/>
        </p:nvSpPr>
        <p:spPr>
          <a:xfrm xmlns:a="http://schemas.openxmlformats.org/drawingml/2006/main">
            <a:off x="8058150" y="3562350"/>
            <a:ext cx="3562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23043"/>
                </a:solidFill>
              </a:defRPr>
            </a:defPPr>
          </a:lstStyle>
          <a:p xmlns:a="http://schemas.openxmlformats.org/drawingml/2006/main">
            <a:pPr>
              <a:defRPr sz="2175" b="1">
                <a:solidFill>
                  <a:srgbClr val="123043"/>
                </a:solidFill>
              </a:defRPr>
            </a:pPr>
            <a:r>
              <a:rPr sz="2175" b="1">
                <a:solidFill>
                  <a:srgbClr val="123043"/>
                </a:solidFill>
              </a:rPr>
              <a:t>Adjust the route in ROS</a:t>
            </a:r>
          </a:p>
        </p:txBody>
      </p:sp>
      <p:sp>
        <p:nvSpPr>
          <p:cNvPr id="9" name="next-2-desc">
            <a:extLst xmlns:a="http://schemas.openxmlformats.org/drawingml/2006/main">
              <a:ext uri="{FF2B5EF4-FFF2-40B4-BE49-F238E27FC236}">
                <a16:creationId xmlns:a16="http://schemas.microsoft.com/office/drawing/2014/main" id="{B68A858F-6D2B-46B7-B119-2A17F98DF131}"/>
              </a:ext>
            </a:extLst>
          </p:cNvPr>
          <p:cNvSpPr>
            <a:spLocks xmlns:a="http://schemas.openxmlformats.org/drawingml/2006/main" noGrp="1"/>
          </p:cNvSpPr>
          <p:nvPr/>
        </p:nvSpPr>
        <p:spPr>
          <a:xfrm xmlns:a="http://schemas.openxmlformats.org/drawingml/2006/main">
            <a:off x="8058150" y="4333875"/>
            <a:ext cx="3562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87082"/>
                </a:solidFill>
              </a:defRPr>
            </a:defPPr>
          </a:lstStyle>
          <a:p xmlns:a="http://schemas.openxmlformats.org/drawingml/2006/main">
            <a:pPr>
              <a:defRPr sz="1950" b="0">
                <a:solidFill>
                  <a:srgbClr val="587082"/>
                </a:solidFill>
              </a:defRPr>
            </a:pPr>
            <a:r>
              <a:rPr sz="1950" b="0">
                <a:solidFill>
                  <a:srgbClr val="587082"/>
                </a:solidFill>
              </a:rPr>
              <a:t>Test obstacle avoidance during delivery</a:t>
            </a:r>
          </a:p>
        </p:txBody>
      </p:sp>
      <p:sp>
        <p:nvSpPr>
          <p:cNvPr id="10" name="status">
            <a:extLst xmlns:a="http://schemas.openxmlformats.org/drawingml/2006/main">
              <a:ext uri="{FF2B5EF4-FFF2-40B4-BE49-F238E27FC236}">
                <a16:creationId xmlns:a16="http://schemas.microsoft.com/office/drawing/2014/main" id="{1F85011F-B3AB-424F-9C6B-77249CBFAFFC}"/>
              </a:ext>
            </a:extLst>
          </p:cNvPr>
          <p:cNvSpPr>
            <a:spLocks xmlns:a="http://schemas.openxmlformats.org/drawingml/2006/main" noGrp="1"/>
          </p:cNvSpPr>
          <p:nvPr/>
        </p:nvSpPr>
        <p:spPr>
          <a:xfrm xmlns:a="http://schemas.openxmlformats.org/drawingml/2006/main">
            <a:off x="571500" y="61341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87082"/>
                </a:solidFill>
              </a:defRPr>
            </a:defPPr>
          </a:lstStyle>
          <a:p xmlns:a="http://schemas.openxmlformats.org/drawingml/2006/main">
            <a:pPr>
              <a:defRPr sz="1725" b="0">
                <a:solidFill>
                  <a:srgbClr val="587082"/>
                </a:solidFill>
              </a:defRPr>
            </a:pPr>
            <a:r>
              <a:rPr sz="1725" b="0">
                <a:solidFill>
                  <a:srgbClr val="587082"/>
                </a:solidFill>
              </a:rPr>
              <a:t>Current demo: configured route with obstacle avoidance disabled.</a:t>
            </a:r>
          </a:p>
        </p:txBody>
      </p:sp>
    </p:spTree>
    <p:extLst>
      <p:ext uri="{BB962C8B-B14F-4D97-AF65-F5344CB8AC3E}">
        <p14:creationId xmlns:p14="http://schemas.microsoft.com/office/powerpoint/2010/main" val="151965268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2026-10-12T19:16:16.8110000Z</dcterms:created>
  <dcterms:modified xsi:type="dcterms:W3CDTF">2026-10-12T19:16:16.8110000Z</dcterms:modified>
</coreProperties>
</file>